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Blockchains execute transactions one at a time, even though most transactions in a block never touch the same state. Our project asks the question from the brief directly: when does executing them in parallel actually help, and when does it not? We built a parallel execution engine on real EVM bytecode, with three different schedulers, and measured it on twenty workloads. The two numbers on the right are the answer in miniature: five and a half times faster when transactions are independent and do real work, and less than half the speed of plain sequential execution when every transaction depends on the one before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puzzle that frames everything. A block of two thousand transfers between random accounts has almost no dependencies — the dependency bound says it could run a thousand times faster. We measured one point four. ERC-20 transfers do better, compute-heavy calls much better, and an NFT mint is actually slower than running it sequentially. Explaining that gap — where the missing speedup goes — is what the rest of the talk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through one execution path. The EVM is revm, embedded as a library, running bytecode compiled from Solidity. Between the EVM and state sits a read recorder — the only type in the code base that the EVM can read through — so every read is logged. That matters because optimistic parallel execution is only correct if every read is re-checked; a read that slips through is a bug that shows up on one run in a few hundred. Below that sit two views of state: multi-version memory for the parallel schedulers, and plain state for the sequential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three schedulers, because the interesting question is not just whether parallelism helps but which kind. The first runs everything optimistically in rounds: execute all, validate all, re-run what failed. It is simple and provably terminates, but on a chain it re-runs everything above each fix. The second is Block-STM, the scheduler behind Aptos: workers share execution and validation tasks, and a transaction that would read a value about to change is parked until it is ready. The third is static: it derives every transaction's access set the way a block builder would under Ethereum's proposed block access lists, EIP-7928, and runs conflict-free groups in parallel with no speculation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Conflict detection is where correctness and performance meet. A transaction's read set is everything the EVM loaded; its write set is only what it actually changed. That distinction cost us a bug: at first we counted every account the EVM marked as touched, which made every call to the same contract look like a conflict. The block's fee recipient gets special treatment — every transaction pays it, but fees add up in any order, so they are summed at the end. And granularity is a design choice: per slot or per account. On ERC-20 that choice turns out to decide almost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trusting any speedup, we made sure the answers are right. Every parallel scheduler is compared slot for slot with an independent sequential engine on a thousand random blocks per workload. The sequential engine is itself checked against Anvil, a real Ethereum node, on nine workloads. And we tested the tests: we injected fifteen bugs on purpose; all are caught, though two initially slipped past, which is how we found holes in the tests. Along the way the tests caught three real bugs — including a race that appeared once in a full run and that a stress test then reproduced in half 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speedup against thread count for six representative workloads. Three shapes appear. Independent, compute-heavy calls scale almost linearly — over five times on six cores. Independent but light transactions, like transfers, gain something up to about six threads, then get slower once work lands on the chip's efficiency cores. And dependent workloads — an NFT mint, swaps on one pool — are slower than sequential under every scheduler, at every thread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placed every workload by its measured dependency density — the fraction of transactions that read something an earlier transaction wrote. Surprisingly, density is not what kills speedup. Blocks where three quarters of transactions depend on another still run at 1.3 times, because the chains are short. What matters is the length of the longest chain: at 432 Block-STM is still ahead; at 1,200 and at 2,000 it falls to under half of sequential speed. And look at the two rows with a chain of 432 — identical dependency structure, but ERC-20 transactions do more work, so they get 1.67 instead of 1.07.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isolate the second factor we held conflicts at zero and varied how much work each transaction does, by hashing a growing payload. With almost no work — about a microsecond and a half — the speedup is only one and a half. With seventy-eight microseconds of work it is five and a half, ninety-two percent of the six cores. The reason is a roughly fixed cost per transaction for versioning and validation: at one thread Block-STM loses up to forty percent to its own machinery on light transactions. A plain payment is on the wrong side of this curve no matter how independent the block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blocks, different schedulers. On a dependency chain, round-based execution confirms one more transaction per round and re-runs everything above it — two hundred and forty-seven executions per transaction on the NFT mint, and a speedup of one hundredth. Block-STM runs each transaction fewer than twice, because a transaction that would read a value about to change is parked until it is ready instead of being run anyway. That single mechanism is what makes optimistic execution survivable under contention. It is also a correctness mechanism: we removed it on purpose and the results went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Granularity turned out to be decisive. Every ERC-20 balance is a storage slot inside the token contract. If conflicts are tracked per slot, transfers between different holders are independent and all three schedulers get about three times. If they are tracked per account, every transfer collides in the token contract's account and the speedup disappears. That is exactly why Ethereum's proposed block access lists record storage keys, not just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when does parallel execution help? Only when three things hold at once. Chains must be short — a single hot contract is a ceiling no execution engine can remove. Transactions must do real work, enough to pay for coordinating them. And conflicts must be tracked finely, on cores that are really there. Lose the first and parallel execution is actively slower than sequential. In practice that means big gains for busy chains with diverse contract activity, and little or nothing for a block dominated by one popular mint or one busy pool — which is often exactly what congestion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how this connects to real systems. Our Block-STM follows the scheduler Aptos uses, on EVM bytecode, and we see the same shape. Solana's model — declaring the accounts a transaction touches — corresponds on the EVM to account-level detection, and our ERC-20 result shows how much that throws away. Ethereum's EIP-7928 proposes block access lists with storage keys; our static scheduler is what a validator could do with them, while the builder pays the cost of producing the list. And account-abstraction bundles concentrate many users into one transaction and one contract, which is the unfavourable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we would do next. Replay real mainnet blocks, to see where real traffic sits on the axes we measured. Run on a machine with uniform cores, so results above six threads measure the scheduler rather than the chip. And emit real EIP-7928 access lists, measuring the builder's side too. Everything — code, raw data, figures and the full report — is in the repository.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B26"/>
        </a:solidFill>
      </p:bgPr>
    </p:bg>
    <p:spTree>
      <p:nvGrpSpPr>
        <p:cNvPr id="1" name=""/>
        <p:cNvGrpSpPr/>
        <p:nvPr/>
      </p:nvGrpSpPr>
      <p:grpSpPr>
        <a:xfrm>
          <a:off x="0" y="0"/>
          <a:ext cx="0" cy="0"/>
          <a:chOff x="0" y="0"/>
          <a:chExt cx="0" cy="0"/>
        </a:xfrm>
      </p:grpSpPr>
      <p:sp>
        <p:nvSpPr>
          <p:cNvPr id="2" name="Text 0"/>
          <p:cNvSpPr txBox="1"/>
          <p:nvPr/>
        </p:nvSpPr>
        <p:spPr>
          <a:xfrm>
            <a:off x="548640" y="822960"/>
            <a:ext cx="8229600" cy="320040"/>
          </a:xfrm>
          <a:prstGeom prst="rect">
            <a:avLst/>
          </a:prstGeom>
          <a:noFill/>
          <a:ln/>
        </p:spPr>
        <p:txBody>
          <a:bodyPr wrap="square" lIns="0" tIns="0" rIns="0" bIns="0" rtlCol="0" anchor="ctr"/>
          <a:lstStyle/>
          <a:p>
            <a:pPr indent="0" marL="0">
              <a:buNone/>
            </a:pPr>
            <a:r>
              <a:rPr lang="en-US" sz="1200" b="1" spc="200" kern="0" dirty="0">
                <a:solidFill>
                  <a:srgbClr val="EB6834"/>
                </a:solidFill>
                <a:latin typeface="Arial" pitchFamily="34" charset="0"/>
                <a:ea typeface="Arial" pitchFamily="34" charset="-122"/>
                <a:cs typeface="Arial" pitchFamily="34" charset="-120"/>
              </a:rPr>
              <a:t>SC6109 BLOCKCHAIN SCALABILITY · OPTION 5</a:t>
            </a:r>
            <a:endParaRPr lang="en-US" sz="1200" dirty="0"/>
          </a:p>
        </p:txBody>
      </p:sp>
      <p:sp>
        <p:nvSpPr>
          <p:cNvPr id="3" name="Text 1"/>
          <p:cNvSpPr txBox="1"/>
          <p:nvPr/>
        </p:nvSpPr>
        <p:spPr>
          <a:xfrm>
            <a:off x="548640" y="1325880"/>
            <a:ext cx="7498080" cy="201168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When does parallel EVM execution pay?</a:t>
            </a:r>
            <a:endParaRPr lang="en-US" sz="4800" dirty="0"/>
          </a:p>
        </p:txBody>
      </p:sp>
      <p:sp>
        <p:nvSpPr>
          <p:cNvPr id="4" name="Text 2"/>
          <p:cNvSpPr txBox="1"/>
          <p:nvPr/>
        </p:nvSpPr>
        <p:spPr>
          <a:xfrm>
            <a:off x="548640" y="3520440"/>
            <a:ext cx="6949440" cy="1097280"/>
          </a:xfrm>
          <a:prstGeom prst="rect">
            <a:avLst/>
          </a:prstGeom>
          <a:noFill/>
          <a:ln/>
        </p:spPr>
        <p:txBody>
          <a:bodyPr wrap="square" lIns="0" tIns="0" rIns="0" bIns="0" rtlCol="0" anchor="t"/>
          <a:lstStyle/>
          <a:p>
            <a:pPr indent="0" marL="0">
              <a:buNone/>
            </a:pPr>
            <a:r>
              <a:rPr lang="en-US" sz="1800" dirty="0">
                <a:solidFill>
                  <a:srgbClr val="AEB6C8"/>
                </a:solidFill>
                <a:latin typeface="Arial" pitchFamily="34" charset="0"/>
                <a:ea typeface="Arial" pitchFamily="34" charset="-122"/>
                <a:cs typeface="Arial" pitchFamily="34" charset="-120"/>
              </a:rPr>
              <a:t>A Block-STM engine over real EVM bytecode — three schedulers, twenty workloads, and the cases where parallelism makes things slower.</a:t>
            </a:r>
            <a:endParaRPr lang="en-US" sz="1800" dirty="0"/>
          </a:p>
        </p:txBody>
      </p:sp>
      <p:sp>
        <p:nvSpPr>
          <p:cNvPr id="5" name="Shape 3"/>
          <p:cNvSpPr/>
          <p:nvPr/>
        </p:nvSpPr>
        <p:spPr>
          <a:xfrm>
            <a:off x="8412480" y="1325880"/>
            <a:ext cx="3200400" cy="1874520"/>
          </a:xfrm>
          <a:prstGeom prst="roundRect">
            <a:avLst>
              <a:gd name="adj" fmla="val 5854"/>
            </a:avLst>
          </a:prstGeom>
          <a:solidFill>
            <a:srgbClr val="232A38"/>
          </a:solidFill>
          <a:ln w="12700">
            <a:solidFill>
              <a:srgbClr val="232A38"/>
            </a:solidFill>
            <a:prstDash val="solid"/>
          </a:ln>
        </p:spPr>
      </p:sp>
      <p:sp>
        <p:nvSpPr>
          <p:cNvPr id="6" name="Text 4"/>
          <p:cNvSpPr txBox="1"/>
          <p:nvPr/>
        </p:nvSpPr>
        <p:spPr>
          <a:xfrm>
            <a:off x="8686800" y="1463040"/>
            <a:ext cx="2743200" cy="914400"/>
          </a:xfrm>
          <a:prstGeom prst="rect">
            <a:avLst/>
          </a:prstGeom>
          <a:noFill/>
          <a:ln/>
        </p:spPr>
        <p:txBody>
          <a:bodyPr wrap="square" lIns="0" tIns="0" rIns="0" bIns="0" rtlCol="0" anchor="ctr"/>
          <a:lstStyle/>
          <a:p>
            <a:pPr indent="0" marL="0">
              <a:buNone/>
            </a:pPr>
            <a:r>
              <a:rPr lang="en-US" sz="5400" b="1" dirty="0">
                <a:solidFill>
                  <a:srgbClr val="1BAF7A"/>
                </a:solidFill>
                <a:latin typeface="Arial" pitchFamily="34" charset="0"/>
                <a:ea typeface="Arial" pitchFamily="34" charset="-122"/>
                <a:cs typeface="Arial" pitchFamily="34" charset="-120"/>
              </a:rPr>
              <a:t>5.6×</a:t>
            </a:r>
            <a:endParaRPr lang="en-US" sz="5400" dirty="0"/>
          </a:p>
        </p:txBody>
      </p:sp>
      <p:sp>
        <p:nvSpPr>
          <p:cNvPr id="7" name="Text 5"/>
          <p:cNvSpPr txBox="1"/>
          <p:nvPr/>
        </p:nvSpPr>
        <p:spPr>
          <a:xfrm>
            <a:off x="8686800" y="2423160"/>
            <a:ext cx="2743200" cy="457200"/>
          </a:xfrm>
          <a:prstGeom prst="rect">
            <a:avLst/>
          </a:prstGeom>
          <a:noFill/>
          <a:ln/>
        </p:spPr>
        <p:txBody>
          <a:bodyPr wrap="square" lIns="0" tIns="0" rIns="0" bIns="0" rtlCol="0" anchor="ctr"/>
          <a:lstStyle/>
          <a:p>
            <a:pPr indent="0" marL="0">
              <a:buNone/>
            </a:pPr>
            <a:r>
              <a:rPr lang="en-US" sz="1300" dirty="0">
                <a:solidFill>
                  <a:srgbClr val="AEB6C8"/>
                </a:solidFill>
                <a:latin typeface="Arial" pitchFamily="34" charset="0"/>
                <a:ea typeface="Arial" pitchFamily="34" charset="-122"/>
                <a:cs typeface="Arial" pitchFamily="34" charset="-120"/>
              </a:rPr>
              <a:t>independent, compute-heavy</a:t>
            </a:r>
            <a:endParaRPr lang="en-US" sz="1300" dirty="0"/>
          </a:p>
        </p:txBody>
      </p:sp>
      <p:sp>
        <p:nvSpPr>
          <p:cNvPr id="8" name="Shape 6"/>
          <p:cNvSpPr/>
          <p:nvPr/>
        </p:nvSpPr>
        <p:spPr>
          <a:xfrm>
            <a:off x="8412480" y="3383280"/>
            <a:ext cx="3200400" cy="1874520"/>
          </a:xfrm>
          <a:prstGeom prst="roundRect">
            <a:avLst>
              <a:gd name="adj" fmla="val 5854"/>
            </a:avLst>
          </a:prstGeom>
          <a:solidFill>
            <a:srgbClr val="232A38"/>
          </a:solidFill>
          <a:ln w="12700">
            <a:solidFill>
              <a:srgbClr val="232A38"/>
            </a:solidFill>
            <a:prstDash val="solid"/>
          </a:ln>
        </p:spPr>
      </p:sp>
      <p:sp>
        <p:nvSpPr>
          <p:cNvPr id="9" name="Text 7"/>
          <p:cNvSpPr txBox="1"/>
          <p:nvPr/>
        </p:nvSpPr>
        <p:spPr>
          <a:xfrm>
            <a:off x="8686800" y="3520440"/>
            <a:ext cx="2743200" cy="914400"/>
          </a:xfrm>
          <a:prstGeom prst="rect">
            <a:avLst/>
          </a:prstGeom>
          <a:noFill/>
          <a:ln/>
        </p:spPr>
        <p:txBody>
          <a:bodyPr wrap="square" lIns="0" tIns="0" rIns="0" bIns="0" rtlCol="0" anchor="ctr"/>
          <a:lstStyle/>
          <a:p>
            <a:pPr indent="0" marL="0">
              <a:buNone/>
            </a:pPr>
            <a:r>
              <a:rPr lang="en-US" sz="5400" b="1" dirty="0">
                <a:solidFill>
                  <a:srgbClr val="EB6834"/>
                </a:solidFill>
                <a:latin typeface="Arial" pitchFamily="34" charset="0"/>
                <a:ea typeface="Arial" pitchFamily="34" charset="-122"/>
                <a:cs typeface="Arial" pitchFamily="34" charset="-120"/>
              </a:rPr>
              <a:t>0.43×</a:t>
            </a:r>
            <a:endParaRPr lang="en-US" sz="5400" dirty="0"/>
          </a:p>
        </p:txBody>
      </p:sp>
      <p:sp>
        <p:nvSpPr>
          <p:cNvPr id="10" name="Text 8"/>
          <p:cNvSpPr txBox="1"/>
          <p:nvPr/>
        </p:nvSpPr>
        <p:spPr>
          <a:xfrm>
            <a:off x="8686800" y="4480560"/>
            <a:ext cx="2743200" cy="457200"/>
          </a:xfrm>
          <a:prstGeom prst="rect">
            <a:avLst/>
          </a:prstGeom>
          <a:noFill/>
          <a:ln/>
        </p:spPr>
        <p:txBody>
          <a:bodyPr wrap="square" lIns="0" tIns="0" rIns="0" bIns="0" rtlCol="0" anchor="ctr"/>
          <a:lstStyle/>
          <a:p>
            <a:pPr indent="0" marL="0">
              <a:buNone/>
            </a:pPr>
            <a:r>
              <a:rPr lang="en-US" sz="1300" dirty="0">
                <a:solidFill>
                  <a:srgbClr val="AEB6C8"/>
                </a:solidFill>
                <a:latin typeface="Arial" pitchFamily="34" charset="0"/>
                <a:ea typeface="Arial" pitchFamily="34" charset="-122"/>
                <a:cs typeface="Arial" pitchFamily="34" charset="-120"/>
              </a:rPr>
              <a:t>one NFT mint, one dependency chain</a:t>
            </a:r>
            <a:endParaRPr lang="en-US" sz="1300" dirty="0"/>
          </a:p>
        </p:txBody>
      </p:sp>
      <p:sp>
        <p:nvSpPr>
          <p:cNvPr id="11" name="Text 9"/>
          <p:cNvSpPr txBox="1"/>
          <p:nvPr/>
        </p:nvSpPr>
        <p:spPr>
          <a:xfrm>
            <a:off x="8412480" y="5394960"/>
            <a:ext cx="3200400" cy="274320"/>
          </a:xfrm>
          <a:prstGeom prst="rect">
            <a:avLst/>
          </a:prstGeom>
          <a:noFill/>
          <a:ln/>
        </p:spPr>
        <p:txBody>
          <a:bodyPr wrap="square" lIns="0" tIns="0" rIns="0" bIns="0" rtlCol="0" anchor="ctr"/>
          <a:lstStyle/>
          <a:p>
            <a:pPr indent="0" marL="0">
              <a:buNone/>
            </a:pPr>
            <a:r>
              <a:rPr lang="en-US" sz="1100" dirty="0">
                <a:solidFill>
                  <a:srgbClr val="AEB6C8"/>
                </a:solidFill>
                <a:latin typeface="Arial" pitchFamily="34" charset="0"/>
                <a:ea typeface="Arial" pitchFamily="34" charset="-122"/>
                <a:cs typeface="Arial" pitchFamily="34" charset="-120"/>
              </a:rPr>
              <a:t>Block-STM, 6 performance cores, vs. sequential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EB6834"/>
                </a:solidFill>
                <a:latin typeface="Arial" pitchFamily="34" charset="0"/>
                <a:ea typeface="Arial" pitchFamily="34" charset="-122"/>
                <a:cs typeface="Arial" pitchFamily="34" charset="-120"/>
              </a:rPr>
              <a:t>THE QUESTION</a:t>
            </a:r>
            <a:endParaRPr lang="en-US" sz="1100" dirty="0"/>
          </a:p>
        </p:txBody>
      </p:sp>
      <p:sp>
        <p:nvSpPr>
          <p:cNvPr id="3" name="Text 1"/>
          <p:cNvSpPr txBox="1"/>
          <p:nvPr/>
        </p:nvSpPr>
        <p:spPr>
          <a:xfrm>
            <a:off x="548640" y="411480"/>
            <a:ext cx="11094415" cy="822960"/>
          </a:xfrm>
          <a:prstGeom prst="rect">
            <a:avLst/>
          </a:prstGeom>
          <a:noFill/>
          <a:ln/>
        </p:spPr>
        <p:txBody>
          <a:bodyPr wrap="square" lIns="0" tIns="0" rIns="0" bIns="0" rtlCol="0" anchor="t"/>
          <a:lstStyle/>
          <a:p>
            <a:pPr indent="0" marL="0">
              <a:buNone/>
            </a:pPr>
            <a:r>
              <a:rPr lang="en-US" sz="2800" b="1" dirty="0">
                <a:solidFill>
                  <a:srgbClr val="14181F"/>
                </a:solidFill>
                <a:latin typeface="Arial" pitchFamily="34" charset="0"/>
                <a:ea typeface="Arial" pitchFamily="34" charset="-122"/>
                <a:cs typeface="Arial" pitchFamily="34" charset="-120"/>
              </a:rPr>
              <a:t>The dependency bound says 1,000×. We measured 1.4×.</a:t>
            </a:r>
            <a:endParaRPr lang="en-US" sz="2800" dirty="0"/>
          </a:p>
        </p:txBody>
      </p:sp>
      <p:sp>
        <p:nvSpPr>
          <p:cNvPr id="4" name="Text 2"/>
          <p:cNvSpPr txBox="1"/>
          <p:nvPr/>
        </p:nvSpPr>
        <p:spPr>
          <a:xfrm>
            <a:off x="548640" y="1508760"/>
            <a:ext cx="6035040" cy="4206240"/>
          </a:xfrm>
          <a:prstGeom prst="rect">
            <a:avLst/>
          </a:prstGeom>
          <a:noFill/>
          <a:ln/>
        </p:spPr>
        <p:txBody>
          <a:bodyPr wrap="square" lIns="0" tIns="0" rIns="0" bIns="0" rtlCol="0" anchor="t"/>
          <a:lstStyle/>
          <a:p>
            <a:pPr algn="l" indent="0" marL="0">
              <a:spcAft>
                <a:spcPts val="600"/>
              </a:spcAft>
              <a:buNone/>
            </a:pPr>
            <a:r>
              <a:rPr lang="en-US" sz="1700" dirty="0">
                <a:solidFill>
                  <a:srgbClr val="14181F"/>
                </a:solidFill>
                <a:latin typeface="Arial" pitchFamily="34" charset="0"/>
                <a:ea typeface="Arial" pitchFamily="34" charset="-122"/>
                <a:cs typeface="Arial" pitchFamily="34" charset="-120"/>
              </a:rPr>
              <a:t>Take 2,000 ETH transfers between random accounts in a large population. Almost none of them touch the same account: the longest chain of dependencies is two transactions long, so in principle they could run a thousand ways in parallel.</a:t>
            </a:r>
            <a:endParaRPr lang="en-US" sz="1700" dirty="0"/>
          </a:p>
          <a:p>
            <a:pPr algn="l" indent="0" marL="0">
              <a:spcAft>
                <a:spcPts val="600"/>
              </a:spcAft>
              <a:buNone/>
            </a:pPr>
            <a:endParaRPr lang="en-US" sz="1700" dirty="0"/>
          </a:p>
          <a:p>
            <a:pPr algn="l" indent="0" marL="0">
              <a:spcAft>
                <a:spcPts val="600"/>
              </a:spcAft>
              <a:buNone/>
            </a:pPr>
            <a:r>
              <a:rPr lang="en-US" sz="1700" dirty="0">
                <a:solidFill>
                  <a:srgbClr val="14181F"/>
                </a:solidFill>
                <a:latin typeface="Arial" pitchFamily="34" charset="0"/>
                <a:ea typeface="Arial" pitchFamily="34" charset="-122"/>
                <a:cs typeface="Arial" pitchFamily="34" charset="-120"/>
              </a:rPr>
              <a:t>On six cores, Block-STM runs that block 1.4 times faster than sequential. It runs a block of ERC-20 transfers 2.8 times faster, compute-heavy calls 5.6 times faster — and an NFT mint at less than half speed.</a:t>
            </a:r>
            <a:endParaRPr lang="en-US" sz="1700" dirty="0"/>
          </a:p>
          <a:p>
            <a:pPr algn="l" indent="0" marL="0">
              <a:spcAft>
                <a:spcPts val="600"/>
              </a:spcAft>
              <a:buNone/>
            </a:pPr>
            <a:endParaRPr lang="en-US" sz="1700" dirty="0"/>
          </a:p>
          <a:p>
            <a:pPr algn="l" indent="0" marL="0">
              <a:spcAft>
                <a:spcPts val="600"/>
              </a:spcAft>
              <a:buNone/>
            </a:pPr>
            <a:r>
              <a:rPr lang="en-US" sz="1700" dirty="0">
                <a:solidFill>
                  <a:srgbClr val="14181F"/>
                </a:solidFill>
                <a:latin typeface="Arial" pitchFamily="34" charset="0"/>
                <a:ea typeface="Arial" pitchFamily="34" charset="-122"/>
                <a:cs typeface="Arial" pitchFamily="34" charset="-120"/>
              </a:rPr>
              <a:t>The gap between the bound and the measurement is the subject of this project.</a:t>
            </a:r>
            <a:endParaRPr lang="en-US" sz="1700" dirty="0"/>
          </a:p>
        </p:txBody>
      </p:sp>
      <p:sp>
        <p:nvSpPr>
          <p:cNvPr id="5" name="Shape 3"/>
          <p:cNvSpPr/>
          <p:nvPr/>
        </p:nvSpPr>
        <p:spPr>
          <a:xfrm>
            <a:off x="7223760" y="1463040"/>
            <a:ext cx="4389120" cy="1005840"/>
          </a:xfrm>
          <a:prstGeom prst="roundRect">
            <a:avLst>
              <a:gd name="adj" fmla="val 10909"/>
            </a:avLst>
          </a:prstGeom>
          <a:solidFill>
            <a:srgbClr val="F3F5F8"/>
          </a:solidFill>
          <a:ln w="12700">
            <a:solidFill>
              <a:srgbClr val="F3F5F8"/>
            </a:solidFill>
            <a:prstDash val="solid"/>
          </a:ln>
        </p:spPr>
      </p:sp>
      <p:sp>
        <p:nvSpPr>
          <p:cNvPr id="6" name="Text 4"/>
          <p:cNvSpPr txBox="1"/>
          <p:nvPr/>
        </p:nvSpPr>
        <p:spPr>
          <a:xfrm>
            <a:off x="7498080" y="1554480"/>
            <a:ext cx="1737360" cy="822960"/>
          </a:xfrm>
          <a:prstGeom prst="rect">
            <a:avLst/>
          </a:prstGeom>
          <a:noFill/>
          <a:ln/>
        </p:spPr>
        <p:txBody>
          <a:bodyPr wrap="square" lIns="0" tIns="0" rIns="0" bIns="0" rtlCol="0" anchor="ctr"/>
          <a:lstStyle/>
          <a:p>
            <a:pPr indent="0" marL="0">
              <a:buNone/>
            </a:pPr>
            <a:r>
              <a:rPr lang="en-US" sz="3400" b="1" dirty="0">
                <a:solidFill>
                  <a:srgbClr val="5A6272"/>
                </a:solidFill>
                <a:latin typeface="Arial" pitchFamily="34" charset="0"/>
                <a:ea typeface="Arial" pitchFamily="34" charset="-122"/>
                <a:cs typeface="Arial" pitchFamily="34" charset="-120"/>
              </a:rPr>
              <a:t>1,000×</a:t>
            </a:r>
            <a:endParaRPr lang="en-US" sz="3400" dirty="0"/>
          </a:p>
        </p:txBody>
      </p:sp>
      <p:sp>
        <p:nvSpPr>
          <p:cNvPr id="7" name="Text 5"/>
          <p:cNvSpPr txBox="1"/>
          <p:nvPr/>
        </p:nvSpPr>
        <p:spPr>
          <a:xfrm>
            <a:off x="9281160" y="1554480"/>
            <a:ext cx="2194560" cy="822960"/>
          </a:xfrm>
          <a:prstGeom prst="rect">
            <a:avLst/>
          </a:prstGeom>
          <a:noFill/>
          <a:ln/>
        </p:spPr>
        <p:txBody>
          <a:bodyPr wrap="square" lIns="0" tIns="0" rIns="0" bIns="0" rtlCol="0" anchor="ctr"/>
          <a:lstStyle/>
          <a:p>
            <a:pPr indent="0" marL="0">
              <a:buNone/>
            </a:pPr>
            <a:r>
              <a:rPr lang="en-US" sz="1400" dirty="0">
                <a:solidFill>
                  <a:srgbClr val="14181F"/>
                </a:solidFill>
                <a:latin typeface="Arial" pitchFamily="34" charset="0"/>
                <a:ea typeface="Arial" pitchFamily="34" charset="-122"/>
                <a:cs typeface="Arial" pitchFamily="34" charset="-120"/>
              </a:rPr>
              <a:t>dependency ceiling for independent transfers</a:t>
            </a:r>
            <a:endParaRPr lang="en-US" sz="1400" dirty="0"/>
          </a:p>
        </p:txBody>
      </p:sp>
      <p:sp>
        <p:nvSpPr>
          <p:cNvPr id="8" name="Shape 6"/>
          <p:cNvSpPr/>
          <p:nvPr/>
        </p:nvSpPr>
        <p:spPr>
          <a:xfrm>
            <a:off x="7223760" y="2651760"/>
            <a:ext cx="4389120" cy="1005840"/>
          </a:xfrm>
          <a:prstGeom prst="roundRect">
            <a:avLst>
              <a:gd name="adj" fmla="val 10909"/>
            </a:avLst>
          </a:prstGeom>
          <a:solidFill>
            <a:srgbClr val="F3F5F8"/>
          </a:solidFill>
          <a:ln w="12700">
            <a:solidFill>
              <a:srgbClr val="F3F5F8"/>
            </a:solidFill>
            <a:prstDash val="solid"/>
          </a:ln>
        </p:spPr>
      </p:sp>
      <p:sp>
        <p:nvSpPr>
          <p:cNvPr id="9" name="Text 7"/>
          <p:cNvSpPr txBox="1"/>
          <p:nvPr/>
        </p:nvSpPr>
        <p:spPr>
          <a:xfrm>
            <a:off x="7498080" y="2743200"/>
            <a:ext cx="1737360" cy="822960"/>
          </a:xfrm>
          <a:prstGeom prst="rect">
            <a:avLst/>
          </a:prstGeom>
          <a:noFill/>
          <a:ln/>
        </p:spPr>
        <p:txBody>
          <a:bodyPr wrap="square" lIns="0" tIns="0" rIns="0" bIns="0" rtlCol="0" anchor="ctr"/>
          <a:lstStyle/>
          <a:p>
            <a:pPr indent="0" marL="0">
              <a:buNone/>
            </a:pPr>
            <a:r>
              <a:rPr lang="en-US" sz="3400" b="1" dirty="0">
                <a:solidFill>
                  <a:srgbClr val="2A78D6"/>
                </a:solidFill>
                <a:latin typeface="Arial" pitchFamily="34" charset="0"/>
                <a:ea typeface="Arial" pitchFamily="34" charset="-122"/>
                <a:cs typeface="Arial" pitchFamily="34" charset="-120"/>
              </a:rPr>
              <a:t>1.4×</a:t>
            </a:r>
            <a:endParaRPr lang="en-US" sz="3400" dirty="0"/>
          </a:p>
        </p:txBody>
      </p:sp>
      <p:sp>
        <p:nvSpPr>
          <p:cNvPr id="10" name="Text 8"/>
          <p:cNvSpPr txBox="1"/>
          <p:nvPr/>
        </p:nvSpPr>
        <p:spPr>
          <a:xfrm>
            <a:off x="9281160" y="2743200"/>
            <a:ext cx="2194560" cy="822960"/>
          </a:xfrm>
          <a:prstGeom prst="rect">
            <a:avLst/>
          </a:prstGeom>
          <a:noFill/>
          <a:ln/>
        </p:spPr>
        <p:txBody>
          <a:bodyPr wrap="square" lIns="0" tIns="0" rIns="0" bIns="0" rtlCol="0" anchor="ctr"/>
          <a:lstStyle/>
          <a:p>
            <a:pPr indent="0" marL="0">
              <a:buNone/>
            </a:pPr>
            <a:r>
              <a:rPr lang="en-US" sz="1400" dirty="0">
                <a:solidFill>
                  <a:srgbClr val="14181F"/>
                </a:solidFill>
                <a:latin typeface="Arial" pitchFamily="34" charset="0"/>
                <a:ea typeface="Arial" pitchFamily="34" charset="-122"/>
                <a:cs typeface="Arial" pitchFamily="34" charset="-120"/>
              </a:rPr>
              <a:t>measured, ETH transfers</a:t>
            </a:r>
            <a:endParaRPr lang="en-US" sz="1400" dirty="0"/>
          </a:p>
        </p:txBody>
      </p:sp>
      <p:sp>
        <p:nvSpPr>
          <p:cNvPr id="11" name="Shape 9"/>
          <p:cNvSpPr/>
          <p:nvPr/>
        </p:nvSpPr>
        <p:spPr>
          <a:xfrm>
            <a:off x="7223760" y="3840480"/>
            <a:ext cx="4389120" cy="1005840"/>
          </a:xfrm>
          <a:prstGeom prst="roundRect">
            <a:avLst>
              <a:gd name="adj" fmla="val 10909"/>
            </a:avLst>
          </a:prstGeom>
          <a:solidFill>
            <a:srgbClr val="F3F5F8"/>
          </a:solidFill>
          <a:ln w="12700">
            <a:solidFill>
              <a:srgbClr val="F3F5F8"/>
            </a:solidFill>
            <a:prstDash val="solid"/>
          </a:ln>
        </p:spPr>
      </p:sp>
      <p:sp>
        <p:nvSpPr>
          <p:cNvPr id="12" name="Text 10"/>
          <p:cNvSpPr txBox="1"/>
          <p:nvPr/>
        </p:nvSpPr>
        <p:spPr>
          <a:xfrm>
            <a:off x="7498080" y="3931920"/>
            <a:ext cx="1737360" cy="822960"/>
          </a:xfrm>
          <a:prstGeom prst="rect">
            <a:avLst/>
          </a:prstGeom>
          <a:noFill/>
          <a:ln/>
        </p:spPr>
        <p:txBody>
          <a:bodyPr wrap="square" lIns="0" tIns="0" rIns="0" bIns="0" rtlCol="0" anchor="ctr"/>
          <a:lstStyle/>
          <a:p>
            <a:pPr indent="0" marL="0">
              <a:buNone/>
            </a:pPr>
            <a:r>
              <a:rPr lang="en-US" sz="3400" b="1" dirty="0">
                <a:solidFill>
                  <a:srgbClr val="1BAF7A"/>
                </a:solidFill>
                <a:latin typeface="Arial" pitchFamily="34" charset="0"/>
                <a:ea typeface="Arial" pitchFamily="34" charset="-122"/>
                <a:cs typeface="Arial" pitchFamily="34" charset="-120"/>
              </a:rPr>
              <a:t>2.8×</a:t>
            </a:r>
            <a:endParaRPr lang="en-US" sz="3400" dirty="0"/>
          </a:p>
        </p:txBody>
      </p:sp>
      <p:sp>
        <p:nvSpPr>
          <p:cNvPr id="13" name="Text 11"/>
          <p:cNvSpPr txBox="1"/>
          <p:nvPr/>
        </p:nvSpPr>
        <p:spPr>
          <a:xfrm>
            <a:off x="9281160" y="3931920"/>
            <a:ext cx="2194560" cy="822960"/>
          </a:xfrm>
          <a:prstGeom prst="rect">
            <a:avLst/>
          </a:prstGeom>
          <a:noFill/>
          <a:ln/>
        </p:spPr>
        <p:txBody>
          <a:bodyPr wrap="square" lIns="0" tIns="0" rIns="0" bIns="0" rtlCol="0" anchor="ctr"/>
          <a:lstStyle/>
          <a:p>
            <a:pPr indent="0" marL="0">
              <a:buNone/>
            </a:pPr>
            <a:r>
              <a:rPr lang="en-US" sz="1400" dirty="0">
                <a:solidFill>
                  <a:srgbClr val="14181F"/>
                </a:solidFill>
                <a:latin typeface="Arial" pitchFamily="34" charset="0"/>
                <a:ea typeface="Arial" pitchFamily="34" charset="-122"/>
                <a:cs typeface="Arial" pitchFamily="34" charset="-120"/>
              </a:rPr>
              <a:t>measured, ERC-20 transfers</a:t>
            </a:r>
            <a:endParaRPr lang="en-US" sz="1400" dirty="0"/>
          </a:p>
        </p:txBody>
      </p:sp>
      <p:sp>
        <p:nvSpPr>
          <p:cNvPr id="14" name="Shape 12"/>
          <p:cNvSpPr/>
          <p:nvPr/>
        </p:nvSpPr>
        <p:spPr>
          <a:xfrm>
            <a:off x="7223760" y="5029200"/>
            <a:ext cx="4389120" cy="1005840"/>
          </a:xfrm>
          <a:prstGeom prst="roundRect">
            <a:avLst>
              <a:gd name="adj" fmla="val 10909"/>
            </a:avLst>
          </a:prstGeom>
          <a:solidFill>
            <a:srgbClr val="F3F5F8"/>
          </a:solidFill>
          <a:ln w="12700">
            <a:solidFill>
              <a:srgbClr val="F3F5F8"/>
            </a:solidFill>
            <a:prstDash val="solid"/>
          </a:ln>
        </p:spPr>
      </p:sp>
      <p:sp>
        <p:nvSpPr>
          <p:cNvPr id="15" name="Text 13"/>
          <p:cNvSpPr txBox="1"/>
          <p:nvPr/>
        </p:nvSpPr>
        <p:spPr>
          <a:xfrm>
            <a:off x="7498080" y="5120640"/>
            <a:ext cx="1737360" cy="822960"/>
          </a:xfrm>
          <a:prstGeom prst="rect">
            <a:avLst/>
          </a:prstGeom>
          <a:noFill/>
          <a:ln/>
        </p:spPr>
        <p:txBody>
          <a:bodyPr wrap="square" lIns="0" tIns="0" rIns="0" bIns="0" rtlCol="0" anchor="ctr"/>
          <a:lstStyle/>
          <a:p>
            <a:pPr indent="0" marL="0">
              <a:buNone/>
            </a:pPr>
            <a:r>
              <a:rPr lang="en-US" sz="3400" b="1" dirty="0">
                <a:solidFill>
                  <a:srgbClr val="EB6834"/>
                </a:solidFill>
                <a:latin typeface="Arial" pitchFamily="34" charset="0"/>
                <a:ea typeface="Arial" pitchFamily="34" charset="-122"/>
                <a:cs typeface="Arial" pitchFamily="34" charset="-120"/>
              </a:rPr>
              <a:t>0.43×</a:t>
            </a:r>
            <a:endParaRPr lang="en-US" sz="3400" dirty="0"/>
          </a:p>
        </p:txBody>
      </p:sp>
      <p:sp>
        <p:nvSpPr>
          <p:cNvPr id="16" name="Text 14"/>
          <p:cNvSpPr txBox="1"/>
          <p:nvPr/>
        </p:nvSpPr>
        <p:spPr>
          <a:xfrm>
            <a:off x="9281160" y="5120640"/>
            <a:ext cx="2194560" cy="822960"/>
          </a:xfrm>
          <a:prstGeom prst="rect">
            <a:avLst/>
          </a:prstGeom>
          <a:noFill/>
          <a:ln/>
        </p:spPr>
        <p:txBody>
          <a:bodyPr wrap="square" lIns="0" tIns="0" rIns="0" bIns="0" rtlCol="0" anchor="ctr"/>
          <a:lstStyle/>
          <a:p>
            <a:pPr indent="0" marL="0">
              <a:buNone/>
            </a:pPr>
            <a:r>
              <a:rPr lang="en-US" sz="1400" dirty="0">
                <a:solidFill>
                  <a:srgbClr val="14181F"/>
                </a:solidFill>
                <a:latin typeface="Arial" pitchFamily="34" charset="0"/>
                <a:ea typeface="Arial" pitchFamily="34" charset="-122"/>
                <a:cs typeface="Arial" pitchFamily="34" charset="-120"/>
              </a:rPr>
              <a:t>measured, NFT mint</a:t>
            </a:r>
            <a:endParaRPr lang="en-US" sz="1400" dirty="0"/>
          </a:p>
        </p:txBody>
      </p:sp>
      <p:sp>
        <p:nvSpPr>
          <p:cNvPr id="17" name="Text 15"/>
          <p:cNvSpPr txBox="1"/>
          <p:nvPr/>
        </p:nvSpPr>
        <p:spPr>
          <a:xfrm>
            <a:off x="548640" y="6400800"/>
            <a:ext cx="11094415" cy="274320"/>
          </a:xfrm>
          <a:prstGeom prst="rect">
            <a:avLst/>
          </a:prstGeom>
          <a:noFill/>
          <a:ln/>
        </p:spPr>
        <p:txBody>
          <a:bodyPr wrap="square" lIns="0" tIns="0" rIns="0" bIns="0" rtlCol="0" anchor="ctr"/>
          <a:lstStyle/>
          <a:p>
            <a:pPr indent="0" marL="0">
              <a:buNone/>
            </a:pPr>
            <a:r>
              <a:rPr lang="en-US" sz="1000" dirty="0">
                <a:solidFill>
                  <a:srgbClr val="5A6272"/>
                </a:solidFill>
                <a:latin typeface="Arial" pitchFamily="34" charset="0"/>
                <a:ea typeface="Arial" pitchFamily="34" charset="-122"/>
                <a:cs typeface="Arial" pitchFamily="34" charset="-120"/>
              </a:rPr>
              <a:t>Block-STM at 6 threads on an Apple M3 Pro, 2,000-transaction blocks. Ceiling = block size ÷ critical path.</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EB6834"/>
                </a:solidFill>
                <a:latin typeface="Arial" pitchFamily="34" charset="0"/>
                <a:ea typeface="Arial" pitchFamily="34" charset="-122"/>
                <a:cs typeface="Arial" pitchFamily="34" charset="-120"/>
              </a:rPr>
              <a:t>WHAT WE BUILT</a:t>
            </a:r>
            <a:endParaRPr lang="en-US" sz="1100" dirty="0"/>
          </a:p>
        </p:txBody>
      </p:sp>
      <p:sp>
        <p:nvSpPr>
          <p:cNvPr id="3" name="Text 1"/>
          <p:cNvSpPr txBox="1"/>
          <p:nvPr/>
        </p:nvSpPr>
        <p:spPr>
          <a:xfrm>
            <a:off x="548640" y="411480"/>
            <a:ext cx="11094415" cy="822960"/>
          </a:xfrm>
          <a:prstGeom prst="rect">
            <a:avLst/>
          </a:prstGeom>
          <a:noFill/>
          <a:ln/>
        </p:spPr>
        <p:txBody>
          <a:bodyPr wrap="square" lIns="0" tIns="0" rIns="0" bIns="0" rtlCol="0" anchor="t"/>
          <a:lstStyle/>
          <a:p>
            <a:pPr indent="0" marL="0">
              <a:buNone/>
            </a:pPr>
            <a:r>
              <a:rPr lang="en-US" sz="2800" b="1" dirty="0">
                <a:solidFill>
                  <a:srgbClr val="14181F"/>
                </a:solidFill>
                <a:latin typeface="Arial" pitchFamily="34" charset="0"/>
                <a:ea typeface="Arial" pitchFamily="34" charset="-122"/>
                <a:cs typeface="Arial" pitchFamily="34" charset="-120"/>
              </a:rPr>
              <a:t>One execution path, three schedulers, every read recorded</a:t>
            </a:r>
            <a:endParaRPr lang="en-US" sz="2800" dirty="0"/>
          </a:p>
        </p:txBody>
      </p:sp>
      <p:sp>
        <p:nvSpPr>
          <p:cNvPr id="4" name="Shape 2"/>
          <p:cNvSpPr/>
          <p:nvPr/>
        </p:nvSpPr>
        <p:spPr>
          <a:xfrm>
            <a:off x="548640" y="1554480"/>
            <a:ext cx="3291840" cy="786384"/>
          </a:xfrm>
          <a:prstGeom prst="roundRect">
            <a:avLst>
              <a:gd name="adj" fmla="val 11628"/>
            </a:avLst>
          </a:prstGeom>
          <a:solidFill>
            <a:srgbClr val="161B26"/>
          </a:solidFill>
          <a:ln w="12700">
            <a:solidFill>
              <a:srgbClr val="161B26"/>
            </a:solidFill>
            <a:prstDash val="solid"/>
          </a:ln>
        </p:spPr>
      </p:sp>
      <p:sp>
        <p:nvSpPr>
          <p:cNvPr id="5" name="Text 3"/>
          <p:cNvSpPr txBox="1"/>
          <p:nvPr/>
        </p:nvSpPr>
        <p:spPr>
          <a:xfrm>
            <a:off x="548640" y="1554480"/>
            <a:ext cx="3291840" cy="78638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revm 41</a:t>
            </a:r>
            <a:endParaRPr lang="en-US" sz="1700" dirty="0"/>
          </a:p>
        </p:txBody>
      </p:sp>
      <p:sp>
        <p:nvSpPr>
          <p:cNvPr id="6" name="Text 4"/>
          <p:cNvSpPr txBox="1"/>
          <p:nvPr/>
        </p:nvSpPr>
        <p:spPr>
          <a:xfrm>
            <a:off x="4069080" y="1554480"/>
            <a:ext cx="3566160" cy="786384"/>
          </a:xfrm>
          <a:prstGeom prst="rect">
            <a:avLst/>
          </a:prstGeom>
          <a:noFill/>
          <a:ln/>
        </p:spPr>
        <p:txBody>
          <a:bodyPr wrap="square" lIns="0" tIns="0" rIns="0" bIns="0" rtlCol="0" anchor="ctr"/>
          <a:lstStyle/>
          <a:p>
            <a:pPr indent="0" marL="0">
              <a:buNone/>
            </a:pPr>
            <a:r>
              <a:rPr lang="en-US" sz="1400" dirty="0">
                <a:solidFill>
                  <a:srgbClr val="14181F"/>
                </a:solidFill>
                <a:latin typeface="Arial" pitchFamily="34" charset="0"/>
                <a:ea typeface="Arial" pitchFamily="34" charset="-122"/>
                <a:cs typeface="Arial" pitchFamily="34" charset="-120"/>
              </a:rPr>
              <a:t>real EVM, embedded as a library</a:t>
            </a:r>
            <a:endParaRPr lang="en-US" sz="1400" dirty="0"/>
          </a:p>
        </p:txBody>
      </p:sp>
      <p:sp>
        <p:nvSpPr>
          <p:cNvPr id="7" name="Shape 5"/>
          <p:cNvSpPr/>
          <p:nvPr/>
        </p:nvSpPr>
        <p:spPr>
          <a:xfrm>
            <a:off x="2194560" y="2340864"/>
            <a:ext cx="0" cy="237744"/>
          </a:xfrm>
          <a:prstGeom prst="line">
            <a:avLst/>
          </a:prstGeom>
          <a:noFill/>
          <a:ln w="19050">
            <a:solidFill>
              <a:srgbClr val="5A6272"/>
            </a:solidFill>
            <a:prstDash val="solid"/>
          </a:ln>
        </p:spPr>
      </p:sp>
      <p:sp>
        <p:nvSpPr>
          <p:cNvPr id="8" name="Shape 6"/>
          <p:cNvSpPr/>
          <p:nvPr/>
        </p:nvSpPr>
        <p:spPr>
          <a:xfrm>
            <a:off x="548640" y="2578608"/>
            <a:ext cx="3291840" cy="786384"/>
          </a:xfrm>
          <a:prstGeom prst="roundRect">
            <a:avLst>
              <a:gd name="adj" fmla="val 11628"/>
            </a:avLst>
          </a:prstGeom>
          <a:solidFill>
            <a:srgbClr val="EB6834"/>
          </a:solidFill>
          <a:ln w="12700">
            <a:solidFill>
              <a:srgbClr val="EB6834"/>
            </a:solidFill>
            <a:prstDash val="solid"/>
          </a:ln>
        </p:spPr>
      </p:sp>
      <p:sp>
        <p:nvSpPr>
          <p:cNvPr id="9" name="Text 7"/>
          <p:cNvSpPr txBox="1"/>
          <p:nvPr/>
        </p:nvSpPr>
        <p:spPr>
          <a:xfrm>
            <a:off x="548640" y="2578608"/>
            <a:ext cx="3291840" cy="78638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ReadRecorder</a:t>
            </a:r>
            <a:endParaRPr lang="en-US" sz="1700" dirty="0"/>
          </a:p>
        </p:txBody>
      </p:sp>
      <p:sp>
        <p:nvSpPr>
          <p:cNvPr id="10" name="Text 8"/>
          <p:cNvSpPr txBox="1"/>
          <p:nvPr/>
        </p:nvSpPr>
        <p:spPr>
          <a:xfrm>
            <a:off x="4069080" y="2578608"/>
            <a:ext cx="3566160" cy="786384"/>
          </a:xfrm>
          <a:prstGeom prst="rect">
            <a:avLst/>
          </a:prstGeom>
          <a:noFill/>
          <a:ln/>
        </p:spPr>
        <p:txBody>
          <a:bodyPr wrap="square" lIns="0" tIns="0" rIns="0" bIns="0" rtlCol="0" anchor="ctr"/>
          <a:lstStyle/>
          <a:p>
            <a:pPr indent="0" marL="0">
              <a:buNone/>
            </a:pPr>
            <a:r>
              <a:rPr lang="en-US" sz="1400" dirty="0">
                <a:solidFill>
                  <a:srgbClr val="14181F"/>
                </a:solidFill>
                <a:latin typeface="Arial" pitchFamily="34" charset="0"/>
                <a:ea typeface="Arial" pitchFamily="34" charset="-122"/>
                <a:cs typeface="Arial" pitchFamily="34" charset="-120"/>
              </a:rPr>
              <a:t>the only DatabaseRef in the crate — no read reaches the EVM unlogged</a:t>
            </a:r>
            <a:endParaRPr lang="en-US" sz="1400" dirty="0"/>
          </a:p>
        </p:txBody>
      </p:sp>
      <p:sp>
        <p:nvSpPr>
          <p:cNvPr id="11" name="Shape 9"/>
          <p:cNvSpPr/>
          <p:nvPr/>
        </p:nvSpPr>
        <p:spPr>
          <a:xfrm>
            <a:off x="2194560" y="3364992"/>
            <a:ext cx="0" cy="237744"/>
          </a:xfrm>
          <a:prstGeom prst="line">
            <a:avLst/>
          </a:prstGeom>
          <a:noFill/>
          <a:ln w="19050">
            <a:solidFill>
              <a:srgbClr val="5A6272"/>
            </a:solidFill>
            <a:prstDash val="solid"/>
          </a:ln>
        </p:spPr>
      </p:sp>
      <p:sp>
        <p:nvSpPr>
          <p:cNvPr id="12" name="Shape 10"/>
          <p:cNvSpPr/>
          <p:nvPr/>
        </p:nvSpPr>
        <p:spPr>
          <a:xfrm>
            <a:off x="548640" y="3602736"/>
            <a:ext cx="3291840" cy="786384"/>
          </a:xfrm>
          <a:prstGeom prst="roundRect">
            <a:avLst>
              <a:gd name="adj" fmla="val 11628"/>
            </a:avLst>
          </a:prstGeom>
          <a:solidFill>
            <a:srgbClr val="2A78D6"/>
          </a:solidFill>
          <a:ln w="12700">
            <a:solidFill>
              <a:srgbClr val="2A78D6"/>
            </a:solidFill>
            <a:prstDash val="solid"/>
          </a:ln>
        </p:spPr>
      </p:sp>
      <p:sp>
        <p:nvSpPr>
          <p:cNvPr id="13" name="Text 11"/>
          <p:cNvSpPr txBox="1"/>
          <p:nvPr/>
        </p:nvSpPr>
        <p:spPr>
          <a:xfrm>
            <a:off x="548640" y="3602736"/>
            <a:ext cx="3291840" cy="78638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MVView  ·  SimpleView</a:t>
            </a:r>
            <a:endParaRPr lang="en-US" sz="1700" dirty="0"/>
          </a:p>
        </p:txBody>
      </p:sp>
      <p:sp>
        <p:nvSpPr>
          <p:cNvPr id="14" name="Text 12"/>
          <p:cNvSpPr txBox="1"/>
          <p:nvPr/>
        </p:nvSpPr>
        <p:spPr>
          <a:xfrm>
            <a:off x="4069080" y="3602736"/>
            <a:ext cx="3566160" cy="786384"/>
          </a:xfrm>
          <a:prstGeom prst="rect">
            <a:avLst/>
          </a:prstGeom>
          <a:noFill/>
          <a:ln/>
        </p:spPr>
        <p:txBody>
          <a:bodyPr wrap="square" lIns="0" tIns="0" rIns="0" bIns="0" rtlCol="0" anchor="ctr"/>
          <a:lstStyle/>
          <a:p>
            <a:pPr indent="0" marL="0">
              <a:buNone/>
            </a:pPr>
            <a:r>
              <a:rPr lang="en-US" sz="1400" dirty="0">
                <a:solidFill>
                  <a:srgbClr val="14181F"/>
                </a:solidFill>
                <a:latin typeface="Arial" pitchFamily="34" charset="0"/>
                <a:ea typeface="Arial" pitchFamily="34" charset="-122"/>
                <a:cs typeface="Arial" pitchFamily="34" charset="-120"/>
              </a:rPr>
              <a:t>multi-version memory for the parallel engines · plain state for the baseline</a:t>
            </a:r>
            <a:endParaRPr lang="en-US" sz="1400" dirty="0"/>
          </a:p>
        </p:txBody>
      </p:sp>
      <p:sp>
        <p:nvSpPr>
          <p:cNvPr id="15" name="Shape 13"/>
          <p:cNvSpPr/>
          <p:nvPr/>
        </p:nvSpPr>
        <p:spPr>
          <a:xfrm>
            <a:off x="2194560" y="4389120"/>
            <a:ext cx="0" cy="237744"/>
          </a:xfrm>
          <a:prstGeom prst="line">
            <a:avLst/>
          </a:prstGeom>
          <a:noFill/>
          <a:ln w="19050">
            <a:solidFill>
              <a:srgbClr val="5A6272"/>
            </a:solidFill>
            <a:prstDash val="solid"/>
          </a:ln>
        </p:spPr>
      </p:sp>
      <p:sp>
        <p:nvSpPr>
          <p:cNvPr id="16" name="Shape 14"/>
          <p:cNvSpPr/>
          <p:nvPr/>
        </p:nvSpPr>
        <p:spPr>
          <a:xfrm>
            <a:off x="548640" y="4626864"/>
            <a:ext cx="3291840" cy="786384"/>
          </a:xfrm>
          <a:prstGeom prst="roundRect">
            <a:avLst>
              <a:gd name="adj" fmla="val 11628"/>
            </a:avLst>
          </a:prstGeom>
          <a:solidFill>
            <a:srgbClr val="5A6272"/>
          </a:solidFill>
          <a:ln w="12700">
            <a:solidFill>
              <a:srgbClr val="5A6272"/>
            </a:solidFill>
            <a:prstDash val="solid"/>
          </a:ln>
        </p:spPr>
      </p:sp>
      <p:sp>
        <p:nvSpPr>
          <p:cNvPr id="17" name="Text 15"/>
          <p:cNvSpPr txBox="1"/>
          <p:nvPr/>
        </p:nvSpPr>
        <p:spPr>
          <a:xfrm>
            <a:off x="548640" y="4626864"/>
            <a:ext cx="3291840" cy="78638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BaseState</a:t>
            </a:r>
            <a:endParaRPr lang="en-US" sz="1700" dirty="0"/>
          </a:p>
        </p:txBody>
      </p:sp>
      <p:sp>
        <p:nvSpPr>
          <p:cNvPr id="18" name="Text 16"/>
          <p:cNvSpPr txBox="1"/>
          <p:nvPr/>
        </p:nvSpPr>
        <p:spPr>
          <a:xfrm>
            <a:off x="4069080" y="4626864"/>
            <a:ext cx="3566160" cy="786384"/>
          </a:xfrm>
          <a:prstGeom prst="rect">
            <a:avLst/>
          </a:prstGeom>
          <a:noFill/>
          <a:ln/>
        </p:spPr>
        <p:txBody>
          <a:bodyPr wrap="square" lIns="0" tIns="0" rIns="0" bIns="0" rtlCol="0" anchor="ctr"/>
          <a:lstStyle/>
          <a:p>
            <a:pPr indent="0" marL="0">
              <a:buNone/>
            </a:pPr>
            <a:r>
              <a:rPr lang="en-US" sz="1400" dirty="0">
                <a:solidFill>
                  <a:srgbClr val="14181F"/>
                </a:solidFill>
                <a:latin typeface="Arial" pitchFamily="34" charset="0"/>
                <a:ea typeface="Arial" pitchFamily="34" charset="-122"/>
                <a:cs typeface="Arial" pitchFamily="34" charset="-120"/>
              </a:rPr>
              <a:t>pre-block snapshot: accounts, storage, compiled contract code</a:t>
            </a:r>
            <a:endParaRPr lang="en-US" sz="1400" dirty="0"/>
          </a:p>
        </p:txBody>
      </p:sp>
      <p:sp>
        <p:nvSpPr>
          <p:cNvPr id="19" name="Shape 17"/>
          <p:cNvSpPr/>
          <p:nvPr/>
        </p:nvSpPr>
        <p:spPr>
          <a:xfrm>
            <a:off x="8001000" y="1554480"/>
            <a:ext cx="3657600" cy="3931920"/>
          </a:xfrm>
          <a:prstGeom prst="roundRect">
            <a:avLst>
              <a:gd name="adj" fmla="val 3000"/>
            </a:avLst>
          </a:prstGeom>
          <a:solidFill>
            <a:srgbClr val="F3F5F8"/>
          </a:solidFill>
          <a:ln w="12700">
            <a:solidFill>
              <a:srgbClr val="F3F5F8"/>
            </a:solidFill>
            <a:prstDash val="solid"/>
          </a:ln>
        </p:spPr>
      </p:sp>
      <p:sp>
        <p:nvSpPr>
          <p:cNvPr id="20" name="Text 18"/>
          <p:cNvSpPr txBox="1"/>
          <p:nvPr/>
        </p:nvSpPr>
        <p:spPr>
          <a:xfrm>
            <a:off x="8229600" y="1737360"/>
            <a:ext cx="3200400" cy="365760"/>
          </a:xfrm>
          <a:prstGeom prst="rect">
            <a:avLst/>
          </a:prstGeom>
          <a:noFill/>
          <a:ln/>
        </p:spPr>
        <p:txBody>
          <a:bodyPr wrap="square" lIns="0" tIns="0" rIns="0" bIns="0" rtlCol="0" anchor="t"/>
          <a:lstStyle/>
          <a:p>
            <a:pPr algn="l" indent="0" marL="0">
              <a:spcAft>
                <a:spcPts val="600"/>
              </a:spcAft>
              <a:buNone/>
            </a:pPr>
            <a:r>
              <a:rPr lang="en-US" sz="1500" b="1" dirty="0">
                <a:solidFill>
                  <a:srgbClr val="14181F"/>
                </a:solidFill>
                <a:latin typeface="Arial" pitchFamily="34" charset="0"/>
                <a:ea typeface="Arial" pitchFamily="34" charset="-122"/>
                <a:cs typeface="Arial" pitchFamily="34" charset="-120"/>
              </a:rPr>
              <a:t>Why it is shaped this way</a:t>
            </a:r>
            <a:endParaRPr lang="en-US" sz="1500" dirty="0"/>
          </a:p>
        </p:txBody>
      </p:sp>
      <p:sp>
        <p:nvSpPr>
          <p:cNvPr id="21" name="Text 19"/>
          <p:cNvSpPr txBox="1"/>
          <p:nvPr/>
        </p:nvSpPr>
        <p:spPr>
          <a:xfrm>
            <a:off x="8229600" y="2194560"/>
            <a:ext cx="3200400" cy="3200400"/>
          </a:xfrm>
          <a:prstGeom prst="rect">
            <a:avLst/>
          </a:prstGeom>
          <a:noFill/>
          <a:ln/>
        </p:spPr>
        <p:txBody>
          <a:bodyPr wrap="square" lIns="0" tIns="0" rIns="0" bIns="0" rtlCol="0" anchor="t"/>
          <a:lstStyle/>
          <a:p>
            <a:pPr algn="l" indent="0" marL="0">
              <a:spcAft>
                <a:spcPts val="600"/>
              </a:spcAft>
              <a:buNone/>
            </a:pPr>
            <a:r>
              <a:rPr lang="en-US" sz="1350" dirty="0">
                <a:solidFill>
                  <a:srgbClr val="14181F"/>
                </a:solidFill>
                <a:latin typeface="Arial" pitchFamily="34" charset="0"/>
                <a:ea typeface="Arial" pitchFamily="34" charset="-122"/>
                <a:cs typeface="Arial" pitchFamily="34" charset="-120"/>
              </a:rPr>
              <a:t>Block-STM is only correct if every read is re-checked. A read the recorder misses is a silent bug that appears on one seed in hundreds.</a:t>
            </a:r>
            <a:endParaRPr lang="en-US" sz="1350" dirty="0"/>
          </a:p>
          <a:p>
            <a:pPr algn="l" indent="0" marL="0">
              <a:spcAft>
                <a:spcPts val="600"/>
              </a:spcAft>
              <a:buNone/>
            </a:pPr>
            <a:endParaRPr lang="en-US" sz="1350" dirty="0"/>
          </a:p>
          <a:p>
            <a:pPr algn="l" indent="0" marL="0">
              <a:spcAft>
                <a:spcPts val="600"/>
              </a:spcAft>
              <a:buNone/>
            </a:pPr>
            <a:r>
              <a:rPr lang="en-US" sz="1350" dirty="0">
                <a:solidFill>
                  <a:srgbClr val="14181F"/>
                </a:solidFill>
                <a:latin typeface="Arial" pitchFamily="34" charset="0"/>
                <a:ea typeface="Arial" pitchFamily="34" charset="-122"/>
                <a:cs typeface="Arial" pitchFamily="34" charset="-120"/>
              </a:rPr>
              <a:t>So reads are captured in one place, by construction — and the sequential baseline goes through the same path, so it is never quietly cheaper than what it is compared against.</a:t>
            </a:r>
            <a:endParaRPr lang="en-US" sz="1350" dirty="0"/>
          </a:p>
        </p:txBody>
      </p:sp>
      <p:sp>
        <p:nvSpPr>
          <p:cNvPr id="22" name="Text 20"/>
          <p:cNvSpPr txBox="1"/>
          <p:nvPr/>
        </p:nvSpPr>
        <p:spPr>
          <a:xfrm>
            <a:off x="548640" y="6400800"/>
            <a:ext cx="11094415" cy="274320"/>
          </a:xfrm>
          <a:prstGeom prst="rect">
            <a:avLst/>
          </a:prstGeom>
          <a:noFill/>
          <a:ln/>
        </p:spPr>
        <p:txBody>
          <a:bodyPr wrap="square" lIns="0" tIns="0" rIns="0" bIns="0" rtlCol="0" anchor="ctr"/>
          <a:lstStyle/>
          <a:p>
            <a:pPr indent="0" marL="0">
              <a:buNone/>
            </a:pPr>
            <a:r>
              <a:rPr lang="en-US" sz="1000" dirty="0">
                <a:solidFill>
                  <a:srgbClr val="5A6272"/>
                </a:solidFill>
                <a:latin typeface="Arial" pitchFamily="34" charset="0"/>
                <a:ea typeface="Arial" pitchFamily="34" charset="-122"/>
                <a:cs typeface="Arial" pitchFamily="34" charset="-120"/>
              </a:rPr>
              <a:t>Rust · revm 41.0.0 · rayon · Solidity 0.8.28 via Foundry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EB6834"/>
                </a:solidFill>
                <a:latin typeface="Arial" pitchFamily="34" charset="0"/>
                <a:ea typeface="Arial" pitchFamily="34" charset="-122"/>
                <a:cs typeface="Arial" pitchFamily="34" charset="-120"/>
              </a:rPr>
              <a:t>THREE WAYS TO FIND PARALLELISM</a:t>
            </a:r>
            <a:endParaRPr lang="en-US" sz="1100" dirty="0"/>
          </a:p>
        </p:txBody>
      </p:sp>
      <p:sp>
        <p:nvSpPr>
          <p:cNvPr id="3" name="Text 1"/>
          <p:cNvSpPr txBox="1"/>
          <p:nvPr/>
        </p:nvSpPr>
        <p:spPr>
          <a:xfrm>
            <a:off x="548640" y="411480"/>
            <a:ext cx="11094415" cy="822960"/>
          </a:xfrm>
          <a:prstGeom prst="rect">
            <a:avLst/>
          </a:prstGeom>
          <a:noFill/>
          <a:ln/>
        </p:spPr>
        <p:txBody>
          <a:bodyPr wrap="square" lIns="0" tIns="0" rIns="0" bIns="0" rtlCol="0" anchor="t"/>
          <a:lstStyle/>
          <a:p>
            <a:pPr indent="0" marL="0">
              <a:buNone/>
            </a:pPr>
            <a:r>
              <a:rPr lang="en-US" sz="2800" b="1" dirty="0">
                <a:solidFill>
                  <a:srgbClr val="14181F"/>
                </a:solidFill>
                <a:latin typeface="Arial" pitchFamily="34" charset="0"/>
                <a:ea typeface="Arial" pitchFamily="34" charset="-122"/>
                <a:cs typeface="Arial" pitchFamily="34" charset="-120"/>
              </a:rPr>
              <a:t>Speculate in rounds, collaborate, or declare up front</a:t>
            </a:r>
            <a:endParaRPr lang="en-US" sz="2800" dirty="0"/>
          </a:p>
        </p:txBody>
      </p:sp>
      <p:sp>
        <p:nvSpPr>
          <p:cNvPr id="4" name="Shape 2"/>
          <p:cNvSpPr/>
          <p:nvPr/>
        </p:nvSpPr>
        <p:spPr>
          <a:xfrm>
            <a:off x="548640" y="1554480"/>
            <a:ext cx="3520440" cy="4069080"/>
          </a:xfrm>
          <a:prstGeom prst="roundRect">
            <a:avLst>
              <a:gd name="adj" fmla="val 3117"/>
            </a:avLst>
          </a:prstGeom>
          <a:solidFill>
            <a:srgbClr val="F3F5F8"/>
          </a:solidFill>
          <a:ln w="12700">
            <a:solidFill>
              <a:srgbClr val="F3F5F8"/>
            </a:solidFill>
            <a:prstDash val="solid"/>
          </a:ln>
        </p:spPr>
      </p:sp>
      <p:sp>
        <p:nvSpPr>
          <p:cNvPr id="5" name="Shape 3"/>
          <p:cNvSpPr/>
          <p:nvPr/>
        </p:nvSpPr>
        <p:spPr>
          <a:xfrm>
            <a:off x="822960" y="1783080"/>
            <a:ext cx="310896" cy="310896"/>
          </a:xfrm>
          <a:prstGeom prst="roundRect">
            <a:avLst>
              <a:gd name="adj" fmla="val 50000"/>
            </a:avLst>
          </a:prstGeom>
          <a:solidFill>
            <a:srgbClr val="2A78D6"/>
          </a:solidFill>
          <a:ln w="12700">
            <a:solidFill>
              <a:srgbClr val="2A78D6"/>
            </a:solidFill>
            <a:prstDash val="solid"/>
          </a:ln>
        </p:spPr>
      </p:sp>
      <p:sp>
        <p:nvSpPr>
          <p:cNvPr id="6" name="Text 4"/>
          <p:cNvSpPr txBox="1"/>
          <p:nvPr/>
        </p:nvSpPr>
        <p:spPr>
          <a:xfrm>
            <a:off x="822960" y="17830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7" name="Text 5"/>
          <p:cNvSpPr txBox="1"/>
          <p:nvPr/>
        </p:nvSpPr>
        <p:spPr>
          <a:xfrm>
            <a:off x="1234440" y="1783080"/>
            <a:ext cx="914400" cy="310896"/>
          </a:xfrm>
          <a:prstGeom prst="rect">
            <a:avLst/>
          </a:prstGeom>
          <a:noFill/>
          <a:ln/>
        </p:spPr>
        <p:txBody>
          <a:bodyPr wrap="square" lIns="0" tIns="0" rIns="0" bIns="0" rtlCol="0" anchor="ctr"/>
          <a:lstStyle/>
          <a:p>
            <a:pPr indent="0" marL="0">
              <a:buNone/>
            </a:pPr>
            <a:r>
              <a:rPr lang="en-US" sz="1300" b="1" dirty="0">
                <a:solidFill>
                  <a:srgbClr val="5A6272"/>
                </a:solidFill>
                <a:latin typeface="Arial" pitchFamily="34" charset="0"/>
                <a:ea typeface="Arial" pitchFamily="34" charset="-122"/>
                <a:cs typeface="Arial" pitchFamily="34" charset="-120"/>
              </a:rPr>
              <a:t>M2a</a:t>
            </a:r>
            <a:endParaRPr lang="en-US" sz="1300" dirty="0"/>
          </a:p>
        </p:txBody>
      </p:sp>
      <p:sp>
        <p:nvSpPr>
          <p:cNvPr id="8" name="Text 6"/>
          <p:cNvSpPr txBox="1"/>
          <p:nvPr/>
        </p:nvSpPr>
        <p:spPr>
          <a:xfrm>
            <a:off x="822960" y="2240280"/>
            <a:ext cx="3017520" cy="457200"/>
          </a:xfrm>
          <a:prstGeom prst="rect">
            <a:avLst/>
          </a:prstGeom>
          <a:noFill/>
          <a:ln/>
        </p:spPr>
        <p:txBody>
          <a:bodyPr wrap="square" lIns="0" tIns="0" rIns="0" bIns="0" rtlCol="0" anchor="ctr"/>
          <a:lstStyle/>
          <a:p>
            <a:pPr indent="0" marL="0">
              <a:buNone/>
            </a:pPr>
            <a:r>
              <a:rPr lang="en-US" sz="1900" b="1" dirty="0">
                <a:solidFill>
                  <a:srgbClr val="14181F"/>
                </a:solidFill>
                <a:latin typeface="Arial" pitchFamily="34" charset="0"/>
                <a:ea typeface="Arial" pitchFamily="34" charset="-122"/>
                <a:cs typeface="Arial" pitchFamily="34" charset="-120"/>
              </a:rPr>
              <a:t>Round-based optimistic</a:t>
            </a:r>
            <a:endParaRPr lang="en-US" sz="1900" dirty="0"/>
          </a:p>
        </p:txBody>
      </p:sp>
      <p:sp>
        <p:nvSpPr>
          <p:cNvPr id="9" name="Text 7"/>
          <p:cNvSpPr txBox="1"/>
          <p:nvPr/>
        </p:nvSpPr>
        <p:spPr>
          <a:xfrm>
            <a:off x="822960" y="2788920"/>
            <a:ext cx="3017520" cy="1188720"/>
          </a:xfrm>
          <a:prstGeom prst="rect">
            <a:avLst/>
          </a:prstGeom>
          <a:noFill/>
          <a:ln/>
        </p:spPr>
        <p:txBody>
          <a:bodyPr wrap="square" lIns="0" tIns="0" rIns="0" bIns="0" rtlCol="0" anchor="t"/>
          <a:lstStyle/>
          <a:p>
            <a:pPr algn="l" indent="0" marL="0">
              <a:spcAft>
                <a:spcPts val="600"/>
              </a:spcAft>
              <a:buNone/>
            </a:pPr>
            <a:r>
              <a:rPr lang="en-US" sz="1350" dirty="0">
                <a:solidFill>
                  <a:srgbClr val="14181F"/>
                </a:solidFill>
                <a:latin typeface="Arial" pitchFamily="34" charset="0"/>
                <a:ea typeface="Arial" pitchFamily="34" charset="-122"/>
                <a:cs typeface="Arial" pitchFamily="34" charset="-120"/>
              </a:rPr>
              <a:t>Run every pending transaction at once, validate all, re-run the failures, repeat.</a:t>
            </a:r>
            <a:endParaRPr lang="en-US" sz="1350" dirty="0"/>
          </a:p>
        </p:txBody>
      </p:sp>
      <p:sp>
        <p:nvSpPr>
          <p:cNvPr id="10" name="Text 8"/>
          <p:cNvSpPr txBox="1"/>
          <p:nvPr/>
        </p:nvSpPr>
        <p:spPr>
          <a:xfrm>
            <a:off x="822960" y="4023360"/>
            <a:ext cx="3017520" cy="685800"/>
          </a:xfrm>
          <a:prstGeom prst="rect">
            <a:avLst/>
          </a:prstGeom>
          <a:noFill/>
          <a:ln/>
        </p:spPr>
        <p:txBody>
          <a:bodyPr wrap="square" lIns="0" tIns="0" rIns="0" bIns="0" rtlCol="0" anchor="t"/>
          <a:lstStyle/>
          <a:p>
            <a:pPr algn="l" indent="0" marL="0">
              <a:spcAft>
                <a:spcPts val="600"/>
              </a:spcAft>
              <a:buNone/>
            </a:pPr>
            <a:r>
              <a:rPr lang="en-US" sz="1300" dirty="0">
                <a:solidFill>
                  <a:srgbClr val="14181F"/>
                </a:solidFill>
                <a:latin typeface="Arial" pitchFamily="34" charset="0"/>
                <a:ea typeface="Arial" pitchFamily="34" charset="-122"/>
                <a:cs typeface="Arial" pitchFamily="34" charset="-120"/>
              </a:rPr>
              <a:t>+ Simple; provably ends within n rounds.</a:t>
            </a:r>
            <a:endParaRPr lang="en-US" sz="1300" dirty="0"/>
          </a:p>
        </p:txBody>
      </p:sp>
      <p:sp>
        <p:nvSpPr>
          <p:cNvPr id="11" name="Text 9"/>
          <p:cNvSpPr txBox="1"/>
          <p:nvPr/>
        </p:nvSpPr>
        <p:spPr>
          <a:xfrm>
            <a:off x="822960" y="4754880"/>
            <a:ext cx="3017520" cy="731520"/>
          </a:xfrm>
          <a:prstGeom prst="rect">
            <a:avLst/>
          </a:prstGeom>
          <a:noFill/>
          <a:ln/>
        </p:spPr>
        <p:txBody>
          <a:bodyPr wrap="square" lIns="0" tIns="0" rIns="0" bIns="0" rtlCol="0" anchor="t"/>
          <a:lstStyle/>
          <a:p>
            <a:pPr algn="l" indent="0" marL="0">
              <a:spcAft>
                <a:spcPts val="600"/>
              </a:spcAft>
              <a:buNone/>
            </a:pPr>
            <a:r>
              <a:rPr lang="en-US" sz="1300" dirty="0">
                <a:solidFill>
                  <a:srgbClr val="5A6272"/>
                </a:solidFill>
                <a:latin typeface="Arial" pitchFamily="34" charset="0"/>
                <a:ea typeface="Arial" pitchFamily="34" charset="-122"/>
                <a:cs typeface="Arial" pitchFamily="34" charset="-120"/>
              </a:rPr>
              <a:t>− On a dependency chain, re-runs everything above each fix: quadratic.</a:t>
            </a:r>
            <a:endParaRPr lang="en-US" sz="1300" dirty="0"/>
          </a:p>
        </p:txBody>
      </p:sp>
      <p:sp>
        <p:nvSpPr>
          <p:cNvPr id="12" name="Shape 10"/>
          <p:cNvSpPr/>
          <p:nvPr/>
        </p:nvSpPr>
        <p:spPr>
          <a:xfrm>
            <a:off x="4297680" y="1554480"/>
            <a:ext cx="3520440" cy="4069080"/>
          </a:xfrm>
          <a:prstGeom prst="roundRect">
            <a:avLst>
              <a:gd name="adj" fmla="val 3117"/>
            </a:avLst>
          </a:prstGeom>
          <a:solidFill>
            <a:srgbClr val="F3F5F8"/>
          </a:solidFill>
          <a:ln w="12700">
            <a:solidFill>
              <a:srgbClr val="F3F5F8"/>
            </a:solidFill>
            <a:prstDash val="solid"/>
          </a:ln>
        </p:spPr>
      </p:sp>
      <p:sp>
        <p:nvSpPr>
          <p:cNvPr id="13" name="Shape 11"/>
          <p:cNvSpPr/>
          <p:nvPr/>
        </p:nvSpPr>
        <p:spPr>
          <a:xfrm>
            <a:off x="4572000" y="1783080"/>
            <a:ext cx="310896" cy="310896"/>
          </a:xfrm>
          <a:prstGeom prst="roundRect">
            <a:avLst>
              <a:gd name="adj" fmla="val 50000"/>
            </a:avLst>
          </a:prstGeom>
          <a:solidFill>
            <a:srgbClr val="EB6834"/>
          </a:solidFill>
          <a:ln w="12700">
            <a:solidFill>
              <a:srgbClr val="EB6834"/>
            </a:solidFill>
            <a:prstDash val="solid"/>
          </a:ln>
        </p:spPr>
      </p:sp>
      <p:sp>
        <p:nvSpPr>
          <p:cNvPr id="14" name="Text 12"/>
          <p:cNvSpPr txBox="1"/>
          <p:nvPr/>
        </p:nvSpPr>
        <p:spPr>
          <a:xfrm>
            <a:off x="4572000" y="17830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5" name="Text 13"/>
          <p:cNvSpPr txBox="1"/>
          <p:nvPr/>
        </p:nvSpPr>
        <p:spPr>
          <a:xfrm>
            <a:off x="4983480" y="1783080"/>
            <a:ext cx="914400" cy="310896"/>
          </a:xfrm>
          <a:prstGeom prst="rect">
            <a:avLst/>
          </a:prstGeom>
          <a:noFill/>
          <a:ln/>
        </p:spPr>
        <p:txBody>
          <a:bodyPr wrap="square" lIns="0" tIns="0" rIns="0" bIns="0" rtlCol="0" anchor="ctr"/>
          <a:lstStyle/>
          <a:p>
            <a:pPr indent="0" marL="0">
              <a:buNone/>
            </a:pPr>
            <a:r>
              <a:rPr lang="en-US" sz="1300" b="1" dirty="0">
                <a:solidFill>
                  <a:srgbClr val="5A6272"/>
                </a:solidFill>
                <a:latin typeface="Arial" pitchFamily="34" charset="0"/>
                <a:ea typeface="Arial" pitchFamily="34" charset="-122"/>
                <a:cs typeface="Arial" pitchFamily="34" charset="-120"/>
              </a:rPr>
              <a:t>M2b</a:t>
            </a:r>
            <a:endParaRPr lang="en-US" sz="1300" dirty="0"/>
          </a:p>
        </p:txBody>
      </p:sp>
      <p:sp>
        <p:nvSpPr>
          <p:cNvPr id="16" name="Text 14"/>
          <p:cNvSpPr txBox="1"/>
          <p:nvPr/>
        </p:nvSpPr>
        <p:spPr>
          <a:xfrm>
            <a:off x="4572000" y="2240280"/>
            <a:ext cx="3017520" cy="457200"/>
          </a:xfrm>
          <a:prstGeom prst="rect">
            <a:avLst/>
          </a:prstGeom>
          <a:noFill/>
          <a:ln/>
        </p:spPr>
        <p:txBody>
          <a:bodyPr wrap="square" lIns="0" tIns="0" rIns="0" bIns="0" rtlCol="0" anchor="ctr"/>
          <a:lstStyle/>
          <a:p>
            <a:pPr indent="0" marL="0">
              <a:buNone/>
            </a:pPr>
            <a:r>
              <a:rPr lang="en-US" sz="1900" b="1" dirty="0">
                <a:solidFill>
                  <a:srgbClr val="14181F"/>
                </a:solidFill>
                <a:latin typeface="Arial" pitchFamily="34" charset="0"/>
                <a:ea typeface="Arial" pitchFamily="34" charset="-122"/>
                <a:cs typeface="Arial" pitchFamily="34" charset="-120"/>
              </a:rPr>
              <a:t>Block-STM</a:t>
            </a:r>
            <a:endParaRPr lang="en-US" sz="1900" dirty="0"/>
          </a:p>
        </p:txBody>
      </p:sp>
      <p:sp>
        <p:nvSpPr>
          <p:cNvPr id="17" name="Text 15"/>
          <p:cNvSpPr txBox="1"/>
          <p:nvPr/>
        </p:nvSpPr>
        <p:spPr>
          <a:xfrm>
            <a:off x="4572000" y="2788920"/>
            <a:ext cx="3017520" cy="1188720"/>
          </a:xfrm>
          <a:prstGeom prst="rect">
            <a:avLst/>
          </a:prstGeom>
          <a:noFill/>
          <a:ln/>
        </p:spPr>
        <p:txBody>
          <a:bodyPr wrap="square" lIns="0" tIns="0" rIns="0" bIns="0" rtlCol="0" anchor="t"/>
          <a:lstStyle/>
          <a:p>
            <a:pPr algn="l" indent="0" marL="0">
              <a:spcAft>
                <a:spcPts val="600"/>
              </a:spcAft>
              <a:buNone/>
            </a:pPr>
            <a:r>
              <a:rPr lang="en-US" sz="1350" dirty="0">
                <a:solidFill>
                  <a:srgbClr val="14181F"/>
                </a:solidFill>
                <a:latin typeface="Arial" pitchFamily="34" charset="0"/>
                <a:ea typeface="Arial" pitchFamily="34" charset="-122"/>
                <a:cs typeface="Arial" pitchFamily="34" charset="-120"/>
              </a:rPr>
              <a:t>Workers share execution and validation tasks; a read of an aborted write parks the reader until the writer finishes.</a:t>
            </a:r>
            <a:endParaRPr lang="en-US" sz="1350" dirty="0"/>
          </a:p>
        </p:txBody>
      </p:sp>
      <p:sp>
        <p:nvSpPr>
          <p:cNvPr id="18" name="Text 16"/>
          <p:cNvSpPr txBox="1"/>
          <p:nvPr/>
        </p:nvSpPr>
        <p:spPr>
          <a:xfrm>
            <a:off x="4572000" y="4023360"/>
            <a:ext cx="3017520" cy="685800"/>
          </a:xfrm>
          <a:prstGeom prst="rect">
            <a:avLst/>
          </a:prstGeom>
          <a:noFill/>
          <a:ln/>
        </p:spPr>
        <p:txBody>
          <a:bodyPr wrap="square" lIns="0" tIns="0" rIns="0" bIns="0" rtlCol="0" anchor="t"/>
          <a:lstStyle/>
          <a:p>
            <a:pPr algn="l" indent="0" marL="0">
              <a:spcAft>
                <a:spcPts val="600"/>
              </a:spcAft>
              <a:buNone/>
            </a:pPr>
            <a:r>
              <a:rPr lang="en-US" sz="1300" dirty="0">
                <a:solidFill>
                  <a:srgbClr val="14181F"/>
                </a:solidFill>
                <a:latin typeface="Arial" pitchFamily="34" charset="0"/>
                <a:ea typeface="Arial" pitchFamily="34" charset="-122"/>
                <a:cs typeface="Arial" pitchFamily="34" charset="-120"/>
              </a:rPr>
              <a:t>+ Degrades gracefully under contention.</a:t>
            </a:r>
            <a:endParaRPr lang="en-US" sz="1300" dirty="0"/>
          </a:p>
        </p:txBody>
      </p:sp>
      <p:sp>
        <p:nvSpPr>
          <p:cNvPr id="19" name="Text 17"/>
          <p:cNvSpPr txBox="1"/>
          <p:nvPr/>
        </p:nvSpPr>
        <p:spPr>
          <a:xfrm>
            <a:off x="4572000" y="4754880"/>
            <a:ext cx="3017520" cy="731520"/>
          </a:xfrm>
          <a:prstGeom prst="rect">
            <a:avLst/>
          </a:prstGeom>
          <a:noFill/>
          <a:ln/>
        </p:spPr>
        <p:txBody>
          <a:bodyPr wrap="square" lIns="0" tIns="0" rIns="0" bIns="0" rtlCol="0" anchor="t"/>
          <a:lstStyle/>
          <a:p>
            <a:pPr algn="l" indent="0" marL="0">
              <a:spcAft>
                <a:spcPts val="600"/>
              </a:spcAft>
              <a:buNone/>
            </a:pPr>
            <a:r>
              <a:rPr lang="en-US" sz="1300" dirty="0">
                <a:solidFill>
                  <a:srgbClr val="5A6272"/>
                </a:solidFill>
                <a:latin typeface="Arial" pitchFamily="34" charset="0"/>
                <a:ea typeface="Arial" pitchFamily="34" charset="-122"/>
                <a:cs typeface="Arial" pitchFamily="34" charset="-120"/>
              </a:rPr>
              <a:t>− Pays for versioning and validation even when nothing conflicts.</a:t>
            </a:r>
            <a:endParaRPr lang="en-US" sz="1300" dirty="0"/>
          </a:p>
        </p:txBody>
      </p:sp>
      <p:sp>
        <p:nvSpPr>
          <p:cNvPr id="20" name="Shape 18"/>
          <p:cNvSpPr/>
          <p:nvPr/>
        </p:nvSpPr>
        <p:spPr>
          <a:xfrm>
            <a:off x="8046720" y="1554480"/>
            <a:ext cx="3520440" cy="4069080"/>
          </a:xfrm>
          <a:prstGeom prst="roundRect">
            <a:avLst>
              <a:gd name="adj" fmla="val 3117"/>
            </a:avLst>
          </a:prstGeom>
          <a:solidFill>
            <a:srgbClr val="F3F5F8"/>
          </a:solidFill>
          <a:ln w="12700">
            <a:solidFill>
              <a:srgbClr val="F3F5F8"/>
            </a:solidFill>
            <a:prstDash val="solid"/>
          </a:ln>
        </p:spPr>
      </p:sp>
      <p:sp>
        <p:nvSpPr>
          <p:cNvPr id="21" name="Shape 19"/>
          <p:cNvSpPr/>
          <p:nvPr/>
        </p:nvSpPr>
        <p:spPr>
          <a:xfrm>
            <a:off x="8321040" y="1783080"/>
            <a:ext cx="310896" cy="310896"/>
          </a:xfrm>
          <a:prstGeom prst="roundRect">
            <a:avLst>
              <a:gd name="adj" fmla="val 50000"/>
            </a:avLst>
          </a:prstGeom>
          <a:solidFill>
            <a:srgbClr val="1BAF7A"/>
          </a:solidFill>
          <a:ln w="12700">
            <a:solidFill>
              <a:srgbClr val="1BAF7A"/>
            </a:solidFill>
            <a:prstDash val="solid"/>
          </a:ln>
        </p:spPr>
      </p:sp>
      <p:sp>
        <p:nvSpPr>
          <p:cNvPr id="22" name="Text 20"/>
          <p:cNvSpPr txBox="1"/>
          <p:nvPr/>
        </p:nvSpPr>
        <p:spPr>
          <a:xfrm>
            <a:off x="8321040" y="17830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3" name="Text 21"/>
          <p:cNvSpPr txBox="1"/>
          <p:nvPr/>
        </p:nvSpPr>
        <p:spPr>
          <a:xfrm>
            <a:off x="8732520" y="1783080"/>
            <a:ext cx="914400" cy="310896"/>
          </a:xfrm>
          <a:prstGeom prst="rect">
            <a:avLst/>
          </a:prstGeom>
          <a:noFill/>
          <a:ln/>
        </p:spPr>
        <p:txBody>
          <a:bodyPr wrap="square" lIns="0" tIns="0" rIns="0" bIns="0" rtlCol="0" anchor="ctr"/>
          <a:lstStyle/>
          <a:p>
            <a:pPr indent="0" marL="0">
              <a:buNone/>
            </a:pPr>
            <a:r>
              <a:rPr lang="en-US" sz="1300" b="1" dirty="0">
                <a:solidFill>
                  <a:srgbClr val="5A6272"/>
                </a:solidFill>
                <a:latin typeface="Arial" pitchFamily="34" charset="0"/>
                <a:ea typeface="Arial" pitchFamily="34" charset="-122"/>
                <a:cs typeface="Arial" pitchFamily="34" charset="-120"/>
              </a:rPr>
              <a:t>M3</a:t>
            </a:r>
            <a:endParaRPr lang="en-US" sz="1300" dirty="0"/>
          </a:p>
        </p:txBody>
      </p:sp>
      <p:sp>
        <p:nvSpPr>
          <p:cNvPr id="24" name="Text 22"/>
          <p:cNvSpPr txBox="1"/>
          <p:nvPr/>
        </p:nvSpPr>
        <p:spPr>
          <a:xfrm>
            <a:off x="8321040" y="2240280"/>
            <a:ext cx="3017520" cy="457200"/>
          </a:xfrm>
          <a:prstGeom prst="rect">
            <a:avLst/>
          </a:prstGeom>
          <a:noFill/>
          <a:ln/>
        </p:spPr>
        <p:txBody>
          <a:bodyPr wrap="square" lIns="0" tIns="0" rIns="0" bIns="0" rtlCol="0" anchor="ctr"/>
          <a:lstStyle/>
          <a:p>
            <a:pPr indent="0" marL="0">
              <a:buNone/>
            </a:pPr>
            <a:r>
              <a:rPr lang="en-US" sz="1900" b="1" dirty="0">
                <a:solidFill>
                  <a:srgbClr val="14181F"/>
                </a:solidFill>
                <a:latin typeface="Arial" pitchFamily="34" charset="0"/>
                <a:ea typeface="Arial" pitchFamily="34" charset="-122"/>
                <a:cs typeface="Arial" pitchFamily="34" charset="-120"/>
              </a:rPr>
              <a:t>Static, EIP-7928 style</a:t>
            </a:r>
            <a:endParaRPr lang="en-US" sz="1900" dirty="0"/>
          </a:p>
        </p:txBody>
      </p:sp>
      <p:sp>
        <p:nvSpPr>
          <p:cNvPr id="25" name="Text 23"/>
          <p:cNvSpPr txBox="1"/>
          <p:nvPr/>
        </p:nvSpPr>
        <p:spPr>
          <a:xfrm>
            <a:off x="8321040" y="2788920"/>
            <a:ext cx="3017520" cy="1188720"/>
          </a:xfrm>
          <a:prstGeom prst="rect">
            <a:avLst/>
          </a:prstGeom>
          <a:noFill/>
          <a:ln/>
        </p:spPr>
        <p:txBody>
          <a:bodyPr wrap="square" lIns="0" tIns="0" rIns="0" bIns="0" rtlCol="0" anchor="t"/>
          <a:lstStyle/>
          <a:p>
            <a:pPr algn="l" indent="0" marL="0">
              <a:spcAft>
                <a:spcPts val="600"/>
              </a:spcAft>
              <a:buNone/>
            </a:pPr>
            <a:r>
              <a:rPr lang="en-US" sz="1350" dirty="0">
                <a:solidFill>
                  <a:srgbClr val="14181F"/>
                </a:solidFill>
                <a:latin typeface="Arial" pitchFamily="34" charset="0"/>
                <a:ea typeface="Arial" pitchFamily="34" charset="-122"/>
                <a:cs typeface="Arial" pitchFamily="34" charset="-120"/>
              </a:rPr>
              <a:t>Derive every transaction's access set as a block builder would, then run conflict-free levels in parallel.</a:t>
            </a:r>
            <a:endParaRPr lang="en-US" sz="1350" dirty="0"/>
          </a:p>
        </p:txBody>
      </p:sp>
      <p:sp>
        <p:nvSpPr>
          <p:cNvPr id="26" name="Text 24"/>
          <p:cNvSpPr txBox="1"/>
          <p:nvPr/>
        </p:nvSpPr>
        <p:spPr>
          <a:xfrm>
            <a:off x="8321040" y="4023360"/>
            <a:ext cx="3017520" cy="685800"/>
          </a:xfrm>
          <a:prstGeom prst="rect">
            <a:avLst/>
          </a:prstGeom>
          <a:noFill/>
          <a:ln/>
        </p:spPr>
        <p:txBody>
          <a:bodyPr wrap="square" lIns="0" tIns="0" rIns="0" bIns="0" rtlCol="0" anchor="t"/>
          <a:lstStyle/>
          <a:p>
            <a:pPr algn="l" indent="0" marL="0">
              <a:spcAft>
                <a:spcPts val="600"/>
              </a:spcAft>
              <a:buNone/>
            </a:pPr>
            <a:r>
              <a:rPr lang="en-US" sz="1300" dirty="0">
                <a:solidFill>
                  <a:srgbClr val="14181F"/>
                </a:solidFill>
                <a:latin typeface="Arial" pitchFamily="34" charset="0"/>
                <a:ea typeface="Arial" pitchFamily="34" charset="-122"/>
                <a:cs typeface="Arial" pitchFamily="34" charset="-120"/>
              </a:rPr>
              <a:t>+ No speculation, no aborts; fastest when conflicts are rare.</a:t>
            </a:r>
            <a:endParaRPr lang="en-US" sz="1300" dirty="0"/>
          </a:p>
        </p:txBody>
      </p:sp>
      <p:sp>
        <p:nvSpPr>
          <p:cNvPr id="27" name="Text 25"/>
          <p:cNvSpPr txBox="1"/>
          <p:nvPr/>
        </p:nvSpPr>
        <p:spPr>
          <a:xfrm>
            <a:off x="8321040" y="4754880"/>
            <a:ext cx="3017520" cy="731520"/>
          </a:xfrm>
          <a:prstGeom prst="rect">
            <a:avLst/>
          </a:prstGeom>
          <a:noFill/>
          <a:ln/>
        </p:spPr>
        <p:txBody>
          <a:bodyPr wrap="square" lIns="0" tIns="0" rIns="0" bIns="0" rtlCol="0" anchor="t"/>
          <a:lstStyle/>
          <a:p>
            <a:pPr algn="l" indent="0" marL="0">
              <a:spcAft>
                <a:spcPts val="600"/>
              </a:spcAft>
              <a:buNone/>
            </a:pPr>
            <a:r>
              <a:rPr lang="en-US" sz="1300" dirty="0">
                <a:solidFill>
                  <a:srgbClr val="5A6272"/>
                </a:solidFill>
                <a:latin typeface="Arial" pitchFamily="34" charset="0"/>
                <a:ea typeface="Arial" pitchFamily="34" charset="-122"/>
                <a:cs typeface="Arial" pitchFamily="34" charset="-120"/>
              </a:rPr>
              <a:t>− One barrier per level of the chain; needs the access list first.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EB6834"/>
                </a:solidFill>
                <a:latin typeface="Arial" pitchFamily="34" charset="0"/>
                <a:ea typeface="Arial" pitchFamily="34" charset="-122"/>
                <a:cs typeface="Arial" pitchFamily="34" charset="-120"/>
              </a:rPr>
              <a:t>DECIDING WHAT CONFLICTS</a:t>
            </a:r>
            <a:endParaRPr lang="en-US" sz="1100" dirty="0"/>
          </a:p>
        </p:txBody>
      </p:sp>
      <p:sp>
        <p:nvSpPr>
          <p:cNvPr id="3" name="Text 1"/>
          <p:cNvSpPr txBox="1"/>
          <p:nvPr/>
        </p:nvSpPr>
        <p:spPr>
          <a:xfrm>
            <a:off x="548640" y="411480"/>
            <a:ext cx="11094415" cy="822960"/>
          </a:xfrm>
          <a:prstGeom prst="rect">
            <a:avLst/>
          </a:prstGeom>
          <a:noFill/>
          <a:ln/>
        </p:spPr>
        <p:txBody>
          <a:bodyPr wrap="square" lIns="0" tIns="0" rIns="0" bIns="0" rtlCol="0" anchor="t"/>
          <a:lstStyle/>
          <a:p>
            <a:pPr indent="0" marL="0">
              <a:buNone/>
            </a:pPr>
            <a:r>
              <a:rPr lang="en-US" sz="2800" b="1" dirty="0">
                <a:solidFill>
                  <a:srgbClr val="14181F"/>
                </a:solidFill>
                <a:latin typeface="Arial" pitchFamily="34" charset="0"/>
                <a:ea typeface="Arial" pitchFamily="34" charset="-122"/>
                <a:cs typeface="Arial" pitchFamily="34" charset="-120"/>
              </a:rPr>
              <a:t>A conflict is a changed value — not a touched account</a:t>
            </a:r>
            <a:endParaRPr lang="en-US" sz="2800" dirty="0"/>
          </a:p>
        </p:txBody>
      </p:sp>
      <p:sp>
        <p:nvSpPr>
          <p:cNvPr id="4" name="Shape 2"/>
          <p:cNvSpPr/>
          <p:nvPr/>
        </p:nvSpPr>
        <p:spPr>
          <a:xfrm>
            <a:off x="548640" y="1645920"/>
            <a:ext cx="310896" cy="310896"/>
          </a:xfrm>
          <a:prstGeom prst="roundRect">
            <a:avLst>
              <a:gd name="adj" fmla="val 50000"/>
            </a:avLst>
          </a:prstGeom>
          <a:solidFill>
            <a:srgbClr val="EB6834"/>
          </a:solidFill>
          <a:ln w="12700">
            <a:solidFill>
              <a:srgbClr val="EB6834"/>
            </a:solidFill>
            <a:prstDash val="solid"/>
          </a:ln>
        </p:spPr>
      </p:sp>
      <p:sp>
        <p:nvSpPr>
          <p:cNvPr id="5" name="Text 3"/>
          <p:cNvSpPr txBox="1"/>
          <p:nvPr/>
        </p:nvSpPr>
        <p:spPr>
          <a:xfrm>
            <a:off x="548640" y="16459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6" name="Text 4"/>
          <p:cNvSpPr txBox="1"/>
          <p:nvPr/>
        </p:nvSpPr>
        <p:spPr>
          <a:xfrm>
            <a:off x="1097280" y="1600200"/>
            <a:ext cx="6309360" cy="411480"/>
          </a:xfrm>
          <a:prstGeom prst="rect">
            <a:avLst/>
          </a:prstGeom>
          <a:noFill/>
          <a:ln/>
        </p:spPr>
        <p:txBody>
          <a:bodyPr wrap="square" lIns="0" tIns="0" rIns="0" bIns="0" rtlCol="0" anchor="ctr"/>
          <a:lstStyle/>
          <a:p>
            <a:pPr indent="0" marL="0">
              <a:buNone/>
            </a:pPr>
            <a:r>
              <a:rPr lang="en-US" sz="1800" b="1" dirty="0">
                <a:solidFill>
                  <a:srgbClr val="14181F"/>
                </a:solidFill>
                <a:latin typeface="Arial" pitchFamily="34" charset="0"/>
                <a:ea typeface="Arial" pitchFamily="34" charset="-122"/>
                <a:cs typeface="Arial" pitchFamily="34" charset="-120"/>
              </a:rPr>
              <a:t>Read set: every location the EVM loaded</a:t>
            </a:r>
            <a:endParaRPr lang="en-US" sz="1800" dirty="0"/>
          </a:p>
        </p:txBody>
      </p:sp>
      <p:sp>
        <p:nvSpPr>
          <p:cNvPr id="7" name="Text 5"/>
          <p:cNvSpPr txBox="1"/>
          <p:nvPr/>
        </p:nvSpPr>
        <p:spPr>
          <a:xfrm>
            <a:off x="1097280" y="2039112"/>
            <a:ext cx="6309360" cy="822960"/>
          </a:xfrm>
          <a:prstGeom prst="rect">
            <a:avLst/>
          </a:prstGeom>
          <a:noFill/>
          <a:ln/>
        </p:spPr>
        <p:txBody>
          <a:bodyPr wrap="square" lIns="0" tIns="0" rIns="0" bIns="0" rtlCol="0" anchor="t"/>
          <a:lstStyle/>
          <a:p>
            <a:pPr algn="l" indent="0" marL="0">
              <a:spcAft>
                <a:spcPts val="600"/>
              </a:spcAft>
              <a:buNone/>
            </a:pPr>
            <a:r>
              <a:rPr lang="en-US" sz="1350" dirty="0">
                <a:solidFill>
                  <a:srgbClr val="5A6272"/>
                </a:solidFill>
                <a:latin typeface="Arial" pitchFamily="34" charset="0"/>
                <a:ea typeface="Arial" pitchFamily="34" charset="-122"/>
                <a:cs typeface="Arial" pitchFamily="34" charset="-120"/>
              </a:rPr>
              <a:t>Balances, nonces, code hashes, storage slots — captured at the database boundary, each with the version it resolved to. Validation compares versions, not values.</a:t>
            </a:r>
            <a:endParaRPr lang="en-US" sz="1350" dirty="0"/>
          </a:p>
        </p:txBody>
      </p:sp>
      <p:sp>
        <p:nvSpPr>
          <p:cNvPr id="8" name="Shape 6"/>
          <p:cNvSpPr/>
          <p:nvPr/>
        </p:nvSpPr>
        <p:spPr>
          <a:xfrm>
            <a:off x="548640" y="2971800"/>
            <a:ext cx="310896" cy="310896"/>
          </a:xfrm>
          <a:prstGeom prst="roundRect">
            <a:avLst>
              <a:gd name="adj" fmla="val 50000"/>
            </a:avLst>
          </a:prstGeom>
          <a:solidFill>
            <a:srgbClr val="2A78D6"/>
          </a:solidFill>
          <a:ln w="12700">
            <a:solidFill>
              <a:srgbClr val="2A78D6"/>
            </a:solidFill>
            <a:prstDash val="solid"/>
          </a:ln>
        </p:spPr>
      </p:sp>
      <p:sp>
        <p:nvSpPr>
          <p:cNvPr id="9" name="Text 7"/>
          <p:cNvSpPr txBox="1"/>
          <p:nvPr/>
        </p:nvSpPr>
        <p:spPr>
          <a:xfrm>
            <a:off x="548640" y="29718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0" name="Text 8"/>
          <p:cNvSpPr txBox="1"/>
          <p:nvPr/>
        </p:nvSpPr>
        <p:spPr>
          <a:xfrm>
            <a:off x="1097280" y="2926080"/>
            <a:ext cx="6309360" cy="411480"/>
          </a:xfrm>
          <a:prstGeom prst="rect">
            <a:avLst/>
          </a:prstGeom>
          <a:noFill/>
          <a:ln/>
        </p:spPr>
        <p:txBody>
          <a:bodyPr wrap="square" lIns="0" tIns="0" rIns="0" bIns="0" rtlCol="0" anchor="ctr"/>
          <a:lstStyle/>
          <a:p>
            <a:pPr indent="0" marL="0">
              <a:buNone/>
            </a:pPr>
            <a:r>
              <a:rPr lang="en-US" sz="1800" b="1" dirty="0">
                <a:solidFill>
                  <a:srgbClr val="14181F"/>
                </a:solidFill>
                <a:latin typeface="Arial" pitchFamily="34" charset="0"/>
                <a:ea typeface="Arial" pitchFamily="34" charset="-122"/>
                <a:cs typeface="Arial" pitchFamily="34" charset="-120"/>
              </a:rPr>
              <a:t>Write set: only what actually changed</a:t>
            </a:r>
            <a:endParaRPr lang="en-US" sz="1800" dirty="0"/>
          </a:p>
        </p:txBody>
      </p:sp>
      <p:sp>
        <p:nvSpPr>
          <p:cNvPr id="11" name="Text 9"/>
          <p:cNvSpPr txBox="1"/>
          <p:nvPr/>
        </p:nvSpPr>
        <p:spPr>
          <a:xfrm>
            <a:off x="1097280" y="3364992"/>
            <a:ext cx="6309360" cy="822960"/>
          </a:xfrm>
          <a:prstGeom prst="rect">
            <a:avLst/>
          </a:prstGeom>
          <a:noFill/>
          <a:ln/>
        </p:spPr>
        <p:txBody>
          <a:bodyPr wrap="square" lIns="0" tIns="0" rIns="0" bIns="0" rtlCol="0" anchor="t"/>
          <a:lstStyle/>
          <a:p>
            <a:pPr algn="l" indent="0" marL="0">
              <a:spcAft>
                <a:spcPts val="600"/>
              </a:spcAft>
              <a:buNone/>
            </a:pPr>
            <a:r>
              <a:rPr lang="en-US" sz="1350" dirty="0">
                <a:solidFill>
                  <a:srgbClr val="5A6272"/>
                </a:solidFill>
                <a:latin typeface="Arial" pitchFamily="34" charset="0"/>
                <a:ea typeface="Arial" pitchFamily="34" charset="-122"/>
                <a:cs typeface="Arial" pitchFamily="34" charset="-120"/>
              </a:rPr>
              <a:t>Calling a contract touches its account without changing it. Counting touched as written made every call to one contract conflict with every other — a bug our benchmarks exposed.</a:t>
            </a:r>
            <a:endParaRPr lang="en-US" sz="1350" dirty="0"/>
          </a:p>
        </p:txBody>
      </p:sp>
      <p:sp>
        <p:nvSpPr>
          <p:cNvPr id="12" name="Shape 10"/>
          <p:cNvSpPr/>
          <p:nvPr/>
        </p:nvSpPr>
        <p:spPr>
          <a:xfrm>
            <a:off x="548640" y="4297680"/>
            <a:ext cx="310896" cy="310896"/>
          </a:xfrm>
          <a:prstGeom prst="roundRect">
            <a:avLst>
              <a:gd name="adj" fmla="val 50000"/>
            </a:avLst>
          </a:prstGeom>
          <a:solidFill>
            <a:srgbClr val="1BAF7A"/>
          </a:solidFill>
          <a:ln w="12700">
            <a:solidFill>
              <a:srgbClr val="1BAF7A"/>
            </a:solidFill>
            <a:prstDash val="solid"/>
          </a:ln>
        </p:spPr>
      </p:sp>
      <p:sp>
        <p:nvSpPr>
          <p:cNvPr id="13" name="Text 11"/>
          <p:cNvSpPr txBox="1"/>
          <p:nvPr/>
        </p:nvSpPr>
        <p:spPr>
          <a:xfrm>
            <a:off x="548640" y="42976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4" name="Text 12"/>
          <p:cNvSpPr txBox="1"/>
          <p:nvPr/>
        </p:nvSpPr>
        <p:spPr>
          <a:xfrm>
            <a:off x="1097280" y="4251960"/>
            <a:ext cx="6309360" cy="411480"/>
          </a:xfrm>
          <a:prstGeom prst="rect">
            <a:avLst/>
          </a:prstGeom>
          <a:noFill/>
          <a:ln/>
        </p:spPr>
        <p:txBody>
          <a:bodyPr wrap="square" lIns="0" tIns="0" rIns="0" bIns="0" rtlCol="0" anchor="ctr"/>
          <a:lstStyle/>
          <a:p>
            <a:pPr indent="0" marL="0">
              <a:buNone/>
            </a:pPr>
            <a:r>
              <a:rPr lang="en-US" sz="1800" b="1" dirty="0">
                <a:solidFill>
                  <a:srgbClr val="14181F"/>
                </a:solidFill>
                <a:latin typeface="Arial" pitchFamily="34" charset="0"/>
                <a:ea typeface="Arial" pitchFamily="34" charset="-122"/>
                <a:cs typeface="Arial" pitchFamily="34" charset="-120"/>
              </a:rPr>
              <a:t>The fee recipient is an accumulator</a:t>
            </a:r>
            <a:endParaRPr lang="en-US" sz="1800" dirty="0"/>
          </a:p>
        </p:txBody>
      </p:sp>
      <p:sp>
        <p:nvSpPr>
          <p:cNvPr id="15" name="Text 13"/>
          <p:cNvSpPr txBox="1"/>
          <p:nvPr/>
        </p:nvSpPr>
        <p:spPr>
          <a:xfrm>
            <a:off x="1097280" y="4690872"/>
            <a:ext cx="6309360" cy="822960"/>
          </a:xfrm>
          <a:prstGeom prst="rect">
            <a:avLst/>
          </a:prstGeom>
          <a:noFill/>
          <a:ln/>
        </p:spPr>
        <p:txBody>
          <a:bodyPr wrap="square" lIns="0" tIns="0" rIns="0" bIns="0" rtlCol="0" anchor="t"/>
          <a:lstStyle/>
          <a:p>
            <a:pPr algn="l" indent="0" marL="0">
              <a:spcAft>
                <a:spcPts val="600"/>
              </a:spcAft>
              <a:buNone/>
            </a:pPr>
            <a:r>
              <a:rPr lang="en-US" sz="1350" dirty="0">
                <a:solidFill>
                  <a:srgbClr val="5A6272"/>
                </a:solidFill>
                <a:latin typeface="Arial" pitchFamily="34" charset="0"/>
                <a:ea typeface="Arial" pitchFamily="34" charset="-122"/>
                <a:cs typeface="Arial" pitchFamily="34" charset="-120"/>
              </a:rPr>
              <a:t>Every transaction pays the block beneficiary. Fees add up in any order, so they are kept out of conflict detection and summed at commit.</a:t>
            </a:r>
            <a:endParaRPr lang="en-US" sz="1350" dirty="0"/>
          </a:p>
        </p:txBody>
      </p:sp>
      <p:sp>
        <p:nvSpPr>
          <p:cNvPr id="16" name="Shape 14"/>
          <p:cNvSpPr/>
          <p:nvPr/>
        </p:nvSpPr>
        <p:spPr>
          <a:xfrm>
            <a:off x="7680960" y="1600200"/>
            <a:ext cx="3977640" cy="3749040"/>
          </a:xfrm>
          <a:prstGeom prst="roundRect">
            <a:avLst>
              <a:gd name="adj" fmla="val 2927"/>
            </a:avLst>
          </a:prstGeom>
          <a:solidFill>
            <a:srgbClr val="F3F5F8"/>
          </a:solidFill>
          <a:ln w="12700">
            <a:solidFill>
              <a:srgbClr val="F3F5F8"/>
            </a:solidFill>
            <a:prstDash val="solid"/>
          </a:ln>
        </p:spPr>
      </p:sp>
      <p:sp>
        <p:nvSpPr>
          <p:cNvPr id="17" name="Text 15"/>
          <p:cNvSpPr txBox="1"/>
          <p:nvPr/>
        </p:nvSpPr>
        <p:spPr>
          <a:xfrm>
            <a:off x="7955280" y="1783080"/>
            <a:ext cx="3474720" cy="365760"/>
          </a:xfrm>
          <a:prstGeom prst="rect">
            <a:avLst/>
          </a:prstGeom>
          <a:noFill/>
          <a:ln/>
        </p:spPr>
        <p:txBody>
          <a:bodyPr wrap="square" lIns="0" tIns="0" rIns="0" bIns="0" rtlCol="0" anchor="t"/>
          <a:lstStyle/>
          <a:p>
            <a:pPr algn="l" indent="0" marL="0">
              <a:spcAft>
                <a:spcPts val="600"/>
              </a:spcAft>
              <a:buNone/>
            </a:pPr>
            <a:r>
              <a:rPr lang="en-US" sz="1500" b="1" dirty="0">
                <a:solidFill>
                  <a:srgbClr val="14181F"/>
                </a:solidFill>
                <a:latin typeface="Arial" pitchFamily="34" charset="0"/>
                <a:ea typeface="Arial" pitchFamily="34" charset="-122"/>
                <a:cs typeface="Arial" pitchFamily="34" charset="-120"/>
              </a:rPr>
              <a:t>Granularity is a choice</a:t>
            </a:r>
            <a:endParaRPr lang="en-US" sz="1500" dirty="0"/>
          </a:p>
        </p:txBody>
      </p:sp>
      <p:sp>
        <p:nvSpPr>
          <p:cNvPr id="18" name="Text 16"/>
          <p:cNvSpPr txBox="1"/>
          <p:nvPr/>
        </p:nvSpPr>
        <p:spPr>
          <a:xfrm>
            <a:off x="7955280" y="2240280"/>
            <a:ext cx="3474720" cy="3017520"/>
          </a:xfrm>
          <a:prstGeom prst="rect">
            <a:avLst/>
          </a:prstGeom>
          <a:noFill/>
          <a:ln/>
        </p:spPr>
        <p:txBody>
          <a:bodyPr wrap="square" lIns="0" tIns="0" rIns="0" bIns="0" rtlCol="0" anchor="t"/>
          <a:lstStyle/>
          <a:p>
            <a:pPr algn="l" indent="0" marL="0">
              <a:spcAft>
                <a:spcPts val="600"/>
              </a:spcAft>
              <a:buNone/>
            </a:pPr>
            <a:r>
              <a:rPr lang="en-US" sz="1350" dirty="0">
                <a:solidFill>
                  <a:srgbClr val="14181F"/>
                </a:solidFill>
                <a:latin typeface="Arial" pitchFamily="34" charset="0"/>
                <a:ea typeface="Arial" pitchFamily="34" charset="-122"/>
                <a:cs typeface="Arial" pitchFamily="34" charset="-120"/>
              </a:rPr>
              <a:t>Per storage slot: two ERC-20 transfers between different holders are independent.</a:t>
            </a:r>
            <a:endParaRPr lang="en-US" sz="1350" dirty="0"/>
          </a:p>
          <a:p>
            <a:pPr algn="l" indent="0" marL="0">
              <a:spcAft>
                <a:spcPts val="600"/>
              </a:spcAft>
              <a:buNone/>
            </a:pPr>
            <a:endParaRPr lang="en-US" sz="1350" dirty="0"/>
          </a:p>
          <a:p>
            <a:pPr algn="l" indent="0" marL="0">
              <a:spcAft>
                <a:spcPts val="600"/>
              </a:spcAft>
              <a:buNone/>
            </a:pPr>
            <a:r>
              <a:rPr lang="en-US" sz="1350" dirty="0">
                <a:solidFill>
                  <a:srgbClr val="14181F"/>
                </a:solidFill>
                <a:latin typeface="Arial" pitchFamily="34" charset="0"/>
                <a:ea typeface="Arial" pitchFamily="34" charset="-122"/>
                <a:cs typeface="Arial" pitchFamily="34" charset="-120"/>
              </a:rPr>
              <a:t>Per account: every ERC-20 balance lives in the token contract's account — so every transfer conflicts with every other.</a:t>
            </a:r>
            <a:endParaRPr lang="en-US" sz="1350" dirty="0"/>
          </a:p>
          <a:p>
            <a:pPr algn="l" indent="0" marL="0">
              <a:spcAft>
                <a:spcPts val="600"/>
              </a:spcAft>
              <a:buNone/>
            </a:pPr>
            <a:endParaRPr lang="en-US" sz="1350" dirty="0"/>
          </a:p>
          <a:p>
            <a:pPr algn="l" indent="0" marL="0">
              <a:spcAft>
                <a:spcPts val="600"/>
              </a:spcAft>
              <a:buNone/>
            </a:pPr>
            <a:r>
              <a:rPr lang="en-US" sz="1350" dirty="0">
                <a:solidFill>
                  <a:srgbClr val="14181F"/>
                </a:solidFill>
                <a:latin typeface="Arial" pitchFamily="34" charset="0"/>
                <a:ea typeface="Arial" pitchFamily="34" charset="-122"/>
                <a:cs typeface="Arial" pitchFamily="34" charset="-120"/>
              </a:rPr>
              <a:t>We implemented both and measured the difference (slide 11).</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B26"/>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EB6834"/>
                </a:solidFill>
                <a:latin typeface="Arial" pitchFamily="34" charset="0"/>
                <a:ea typeface="Arial" pitchFamily="34" charset="-122"/>
                <a:cs typeface="Arial" pitchFamily="34" charset="-120"/>
              </a:rPr>
              <a:t>CORRECTNESS FIRST</a:t>
            </a:r>
            <a:endParaRPr lang="en-US" sz="1100" dirty="0"/>
          </a:p>
        </p:txBody>
      </p:sp>
      <p:sp>
        <p:nvSpPr>
          <p:cNvPr id="3" name="Text 1"/>
          <p:cNvSpPr txBox="1"/>
          <p:nvPr/>
        </p:nvSpPr>
        <p:spPr>
          <a:xfrm>
            <a:off x="548640" y="411480"/>
            <a:ext cx="11094415" cy="82296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Every parallel result is bit-identical to sequential — and checked</a:t>
            </a:r>
            <a:endParaRPr lang="en-US" sz="2800" dirty="0"/>
          </a:p>
        </p:txBody>
      </p:sp>
      <p:sp>
        <p:nvSpPr>
          <p:cNvPr id="4" name="Text 2"/>
          <p:cNvSpPr txBox="1"/>
          <p:nvPr/>
        </p:nvSpPr>
        <p:spPr>
          <a:xfrm>
            <a:off x="548640" y="1645920"/>
            <a:ext cx="3383280" cy="868680"/>
          </a:xfrm>
          <a:prstGeom prst="rect">
            <a:avLst/>
          </a:prstGeom>
          <a:noFill/>
          <a:ln/>
        </p:spPr>
        <p:txBody>
          <a:bodyPr wrap="square" lIns="0" tIns="0" rIns="0" bIns="0" rtlCol="0" anchor="b"/>
          <a:lstStyle/>
          <a:p>
            <a:pPr indent="0" marL="0">
              <a:buNone/>
            </a:pPr>
            <a:r>
              <a:rPr lang="en-US" sz="4800" b="1" dirty="0">
                <a:solidFill>
                  <a:srgbClr val="EB6834"/>
                </a:solidFill>
                <a:latin typeface="Arial" pitchFamily="34" charset="0"/>
                <a:ea typeface="Arial" pitchFamily="34" charset="-122"/>
                <a:cs typeface="Arial" pitchFamily="34" charset="-120"/>
              </a:rPr>
              <a:t>1,000</a:t>
            </a:r>
            <a:endParaRPr lang="en-US" sz="4800" dirty="0"/>
          </a:p>
        </p:txBody>
      </p:sp>
      <p:sp>
        <p:nvSpPr>
          <p:cNvPr id="5" name="Text 3"/>
          <p:cNvSpPr txBox="1"/>
          <p:nvPr/>
        </p:nvSpPr>
        <p:spPr>
          <a:xfrm>
            <a:off x="548640" y="2560320"/>
            <a:ext cx="3383280" cy="640080"/>
          </a:xfrm>
          <a:prstGeom prst="rect">
            <a:avLst/>
          </a:prstGeom>
          <a:noFill/>
          <a:ln/>
        </p:spPr>
        <p:txBody>
          <a:bodyPr wrap="square" lIns="0" tIns="0" rIns="0" bIns="0" rtlCol="0" anchor="t"/>
          <a:lstStyle/>
          <a:p>
            <a:pPr indent="0" marL="0">
              <a:buNone/>
            </a:pPr>
            <a:r>
              <a:rPr lang="en-US" sz="1300" dirty="0">
                <a:solidFill>
                  <a:srgbClr val="AEB6C8"/>
                </a:solidFill>
                <a:latin typeface="Arial" pitchFamily="34" charset="0"/>
                <a:ea typeface="Arial" pitchFamily="34" charset="-122"/>
                <a:cs typeface="Arial" pitchFamily="34" charset="-120"/>
              </a:rPr>
              <a:t>seeds per workload, every scheduler, 2–12 threads — slot-for-slot against an independent sequential engine</a:t>
            </a:r>
            <a:endParaRPr lang="en-US" sz="1300" dirty="0"/>
          </a:p>
        </p:txBody>
      </p:sp>
      <p:sp>
        <p:nvSpPr>
          <p:cNvPr id="6" name="Text 4"/>
          <p:cNvSpPr txBox="1"/>
          <p:nvPr/>
        </p:nvSpPr>
        <p:spPr>
          <a:xfrm>
            <a:off x="4343400" y="1645920"/>
            <a:ext cx="3383280" cy="868680"/>
          </a:xfrm>
          <a:prstGeom prst="rect">
            <a:avLst/>
          </a:prstGeom>
          <a:noFill/>
          <a:ln/>
        </p:spPr>
        <p:txBody>
          <a:bodyPr wrap="square" lIns="0" tIns="0" rIns="0" bIns="0" rtlCol="0" anchor="b"/>
          <a:lstStyle/>
          <a:p>
            <a:pPr indent="0" marL="0">
              <a:buNone/>
            </a:pPr>
            <a:r>
              <a:rPr lang="en-US" sz="4800" b="1" dirty="0">
                <a:solidFill>
                  <a:srgbClr val="1BAF7A"/>
                </a:solidFill>
                <a:latin typeface="Arial" pitchFamily="34" charset="0"/>
                <a:ea typeface="Arial" pitchFamily="34" charset="-122"/>
                <a:cs typeface="Arial" pitchFamily="34" charset="-120"/>
              </a:rPr>
              <a:t>9 / 9</a:t>
            </a:r>
            <a:endParaRPr lang="en-US" sz="4800" dirty="0"/>
          </a:p>
        </p:txBody>
      </p:sp>
      <p:sp>
        <p:nvSpPr>
          <p:cNvPr id="7" name="Text 5"/>
          <p:cNvSpPr txBox="1"/>
          <p:nvPr/>
        </p:nvSpPr>
        <p:spPr>
          <a:xfrm>
            <a:off x="4343400" y="2560320"/>
            <a:ext cx="3383280" cy="640080"/>
          </a:xfrm>
          <a:prstGeom prst="rect">
            <a:avLst/>
          </a:prstGeom>
          <a:noFill/>
          <a:ln/>
        </p:spPr>
        <p:txBody>
          <a:bodyPr wrap="square" lIns="0" tIns="0" rIns="0" bIns="0" rtlCol="0" anchor="t"/>
          <a:lstStyle/>
          <a:p>
            <a:pPr indent="0" marL="0">
              <a:buNone/>
            </a:pPr>
            <a:r>
              <a:rPr lang="en-US" sz="1300" dirty="0">
                <a:solidFill>
                  <a:srgbClr val="AEB6C8"/>
                </a:solidFill>
                <a:latin typeface="Arial" pitchFamily="34" charset="0"/>
                <a:ea typeface="Arial" pitchFamily="34" charset="-122"/>
                <a:cs typeface="Arial" pitchFamily="34" charset="-120"/>
              </a:rPr>
              <a:t>workloads where our sequential engine matches an Anvil node: balances, nonces, code, storage, reverts</a:t>
            </a:r>
            <a:endParaRPr lang="en-US" sz="1300" dirty="0"/>
          </a:p>
        </p:txBody>
      </p:sp>
      <p:sp>
        <p:nvSpPr>
          <p:cNvPr id="8" name="Text 6"/>
          <p:cNvSpPr txBox="1"/>
          <p:nvPr/>
        </p:nvSpPr>
        <p:spPr>
          <a:xfrm>
            <a:off x="8138160" y="1645920"/>
            <a:ext cx="3383280" cy="868680"/>
          </a:xfrm>
          <a:prstGeom prst="rect">
            <a:avLst/>
          </a:prstGeom>
          <a:noFill/>
          <a:ln/>
        </p:spPr>
        <p:txBody>
          <a:bodyPr wrap="square" lIns="0" tIns="0" rIns="0" bIns="0" rtlCol="0" anchor="b"/>
          <a:lstStyle/>
          <a:p>
            <a:pPr indent="0" marL="0">
              <a:buNone/>
            </a:pPr>
            <a:r>
              <a:rPr lang="en-US" sz="4800" b="1" dirty="0">
                <a:solidFill>
                  <a:srgbClr val="FFFFFF"/>
                </a:solidFill>
                <a:latin typeface="Arial" pitchFamily="34" charset="0"/>
                <a:ea typeface="Arial" pitchFamily="34" charset="-122"/>
                <a:cs typeface="Arial" pitchFamily="34" charset="-120"/>
              </a:rPr>
              <a:t>15</a:t>
            </a:r>
            <a:endParaRPr lang="en-US" sz="4800" dirty="0"/>
          </a:p>
        </p:txBody>
      </p:sp>
      <p:sp>
        <p:nvSpPr>
          <p:cNvPr id="9" name="Text 7"/>
          <p:cNvSpPr txBox="1"/>
          <p:nvPr/>
        </p:nvSpPr>
        <p:spPr>
          <a:xfrm>
            <a:off x="8138160" y="2560320"/>
            <a:ext cx="3383280" cy="640080"/>
          </a:xfrm>
          <a:prstGeom prst="rect">
            <a:avLst/>
          </a:prstGeom>
          <a:noFill/>
          <a:ln/>
        </p:spPr>
        <p:txBody>
          <a:bodyPr wrap="square" lIns="0" tIns="0" rIns="0" bIns="0" rtlCol="0" anchor="t"/>
          <a:lstStyle/>
          <a:p>
            <a:pPr indent="0" marL="0">
              <a:buNone/>
            </a:pPr>
            <a:r>
              <a:rPr lang="en-US" sz="1300" dirty="0">
                <a:solidFill>
                  <a:srgbClr val="AEB6C8"/>
                </a:solidFill>
                <a:latin typeface="Arial" pitchFamily="34" charset="0"/>
                <a:ea typeface="Arial" pitchFamily="34" charset="-122"/>
                <a:cs typeface="Arial" pitchFamily="34" charset="-120"/>
              </a:rPr>
              <a:t>bugs injected on purpose to test the tests — all caught, after two gaps in the tests were found and closed</a:t>
            </a:r>
            <a:endParaRPr lang="en-US" sz="1300" dirty="0"/>
          </a:p>
        </p:txBody>
      </p:sp>
      <p:sp>
        <p:nvSpPr>
          <p:cNvPr id="10" name="Shape 8"/>
          <p:cNvSpPr/>
          <p:nvPr/>
        </p:nvSpPr>
        <p:spPr>
          <a:xfrm>
            <a:off x="548640" y="3931920"/>
            <a:ext cx="11094415" cy="2148840"/>
          </a:xfrm>
          <a:prstGeom prst="roundRect">
            <a:avLst>
              <a:gd name="adj" fmla="val 5106"/>
            </a:avLst>
          </a:prstGeom>
          <a:solidFill>
            <a:srgbClr val="232A38"/>
          </a:solidFill>
          <a:ln w="12700">
            <a:solidFill>
              <a:srgbClr val="232A38"/>
            </a:solidFill>
            <a:prstDash val="solid"/>
          </a:ln>
        </p:spPr>
      </p:sp>
      <p:sp>
        <p:nvSpPr>
          <p:cNvPr id="11" name="Text 9"/>
          <p:cNvSpPr txBox="1"/>
          <p:nvPr/>
        </p:nvSpPr>
        <p:spPr>
          <a:xfrm>
            <a:off x="868680" y="4114800"/>
            <a:ext cx="4572000" cy="365760"/>
          </a:xfrm>
          <a:prstGeom prst="rect">
            <a:avLst/>
          </a:prstGeom>
          <a:noFill/>
          <a:ln/>
        </p:spPr>
        <p:txBody>
          <a:bodyPr wrap="square" lIns="0" tIns="0" rIns="0" bIns="0" rtlCol="0" anchor="t"/>
          <a:lstStyle/>
          <a:p>
            <a:pPr algn="l" indent="0" marL="0">
              <a:spcAft>
                <a:spcPts val="600"/>
              </a:spcAft>
              <a:buNone/>
            </a:pPr>
            <a:r>
              <a:rPr lang="en-US" sz="1500" b="1" dirty="0">
                <a:solidFill>
                  <a:srgbClr val="FFFFFF"/>
                </a:solidFill>
                <a:latin typeface="Arial" pitchFamily="34" charset="0"/>
                <a:ea typeface="Arial" pitchFamily="34" charset="-122"/>
                <a:cs typeface="Arial" pitchFamily="34" charset="-120"/>
              </a:rPr>
              <a:t>Real bugs the tests found</a:t>
            </a:r>
            <a:endParaRPr lang="en-US" sz="1500" dirty="0"/>
          </a:p>
        </p:txBody>
      </p:sp>
      <p:sp>
        <p:nvSpPr>
          <p:cNvPr id="12" name="Text 10"/>
          <p:cNvSpPr txBox="1"/>
          <p:nvPr/>
        </p:nvSpPr>
        <p:spPr>
          <a:xfrm>
            <a:off x="868680" y="4526280"/>
            <a:ext cx="10454335" cy="1463040"/>
          </a:xfrm>
          <a:prstGeom prst="rect">
            <a:avLst/>
          </a:prstGeom>
          <a:noFill/>
          <a:ln/>
        </p:spPr>
        <p:txBody>
          <a:bodyPr wrap="square" lIns="0" tIns="0" rIns="0" bIns="0" rtlCol="0" anchor="t"/>
          <a:lstStyle/>
          <a:p>
            <a:pPr algn="l" indent="0" marL="0">
              <a:spcAft>
                <a:spcPts val="600"/>
              </a:spcAft>
              <a:buNone/>
            </a:pPr>
            <a:r>
              <a:rPr lang="en-US" sz="1350" dirty="0">
                <a:solidFill>
                  <a:srgbClr val="AEB6C8"/>
                </a:solidFill>
                <a:latin typeface="Arial" pitchFamily="34" charset="0"/>
                <a:ea typeface="Arial" pitchFamily="34" charset="-122"/>
                <a:cs typeface="Arial" pitchFamily="34" charset="-120"/>
              </a:rPr>
              <a:t>Generated accounts landed on precompile addresses — 15% of a block silently called ecrecover instead of transferring.</a:t>
            </a:r>
            <a:endParaRPr lang="en-US" sz="1350" dirty="0"/>
          </a:p>
          <a:p>
            <a:pPr algn="l" indent="0" marL="0">
              <a:spcAft>
                <a:spcPts val="600"/>
              </a:spcAft>
              <a:buNone/>
            </a:pPr>
            <a:r>
              <a:rPr lang="en-US" sz="1350" dirty="0">
                <a:solidFill>
                  <a:srgbClr val="AEB6C8"/>
                </a:solidFill>
                <a:latin typeface="Arial" pitchFamily="34" charset="0"/>
                <a:ea typeface="Arial" pitchFamily="34" charset="-122"/>
                <a:cs typeface="Arial" pitchFamily="34" charset="-120"/>
              </a:rPr>
              <a:t>Touched-but-unchanged accounts counted as writes — every contract workload serialised through its own contract.</a:t>
            </a:r>
            <a:endParaRPr lang="en-US" sz="1350" dirty="0"/>
          </a:p>
          <a:p>
            <a:pPr algn="l" indent="0" marL="0">
              <a:spcAft>
                <a:spcPts val="600"/>
              </a:spcAft>
              <a:buNone/>
            </a:pPr>
            <a:r>
              <a:rPr lang="en-US" sz="1350" dirty="0">
                <a:solidFill>
                  <a:srgbClr val="AEB6C8"/>
                </a:solidFill>
                <a:latin typeface="Arial" pitchFamily="34" charset="0"/>
                <a:ea typeface="Arial" pitchFamily="34" charset="-122"/>
                <a:cs typeface="Arial" pitchFamily="34" charset="-120"/>
              </a:rPr>
              <a:t>A read race under account granularity let a stale nonce pass validation — appeared once in a full run, reproduced by a stress test in 0.5 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EB6834"/>
                </a:solidFill>
                <a:latin typeface="Arial" pitchFamily="34" charset="0"/>
                <a:ea typeface="Arial" pitchFamily="34" charset="-122"/>
                <a:cs typeface="Arial" pitchFamily="34" charset="-120"/>
              </a:rPr>
              <a:t>RESULT 1</a:t>
            </a:r>
            <a:endParaRPr lang="en-US" sz="1100" dirty="0"/>
          </a:p>
        </p:txBody>
      </p:sp>
      <p:sp>
        <p:nvSpPr>
          <p:cNvPr id="3" name="Text 1"/>
          <p:cNvSpPr txBox="1"/>
          <p:nvPr/>
        </p:nvSpPr>
        <p:spPr>
          <a:xfrm>
            <a:off x="548640" y="411480"/>
            <a:ext cx="11094415" cy="822960"/>
          </a:xfrm>
          <a:prstGeom prst="rect">
            <a:avLst/>
          </a:prstGeom>
          <a:noFill/>
          <a:ln/>
        </p:spPr>
        <p:txBody>
          <a:bodyPr wrap="square" lIns="0" tIns="0" rIns="0" bIns="0" rtlCol="0" anchor="t"/>
          <a:lstStyle/>
          <a:p>
            <a:pPr indent="0" marL="0">
              <a:buNone/>
            </a:pPr>
            <a:r>
              <a:rPr lang="en-US" sz="2800" b="1" dirty="0">
                <a:solidFill>
                  <a:srgbClr val="14181F"/>
                </a:solidFill>
                <a:latin typeface="Arial" pitchFamily="34" charset="0"/>
                <a:ea typeface="Arial" pitchFamily="34" charset="-122"/>
                <a:cs typeface="Arial" pitchFamily="34" charset="-120"/>
              </a:rPr>
              <a:t>Three regimes: scales, scales a little, gets slower</a:t>
            </a:r>
            <a:endParaRPr lang="en-US" sz="2800" dirty="0"/>
          </a:p>
        </p:txBody>
      </p:sp>
      <p:pic>
        <p:nvPicPr>
          <p:cNvPr id="4" name="Image 0" descr="/Users/franz/Desktop/SC6109/docs/figures/fig1_speedup_by_threads.png">    </p:cNvPr>
          <p:cNvPicPr>
            <a:picLocks noChangeAspect="1"/>
          </p:cNvPicPr>
          <p:nvPr/>
        </p:nvPicPr>
        <p:blipFill>
          <a:blip r:embed="rId1"/>
          <a:stretch>
            <a:fillRect/>
          </a:stretch>
        </p:blipFill>
        <p:spPr>
          <a:xfrm>
            <a:off x="548640" y="1325880"/>
            <a:ext cx="8138160" cy="4876070"/>
          </a:xfrm>
          <a:prstGeom prst="rect">
            <a:avLst/>
          </a:prstGeom>
        </p:spPr>
      </p:pic>
      <p:sp>
        <p:nvSpPr>
          <p:cNvPr id="5" name="Text 2"/>
          <p:cNvSpPr txBox="1"/>
          <p:nvPr/>
        </p:nvSpPr>
        <p:spPr>
          <a:xfrm>
            <a:off x="8961120" y="1554480"/>
            <a:ext cx="2743200" cy="365760"/>
          </a:xfrm>
          <a:prstGeom prst="rect">
            <a:avLst/>
          </a:prstGeom>
          <a:noFill/>
          <a:ln/>
        </p:spPr>
        <p:txBody>
          <a:bodyPr wrap="square" lIns="0" tIns="0" rIns="0" bIns="0" rtlCol="0" anchor="t"/>
          <a:lstStyle/>
          <a:p>
            <a:pPr algn="l" indent="0" marL="0">
              <a:spcAft>
                <a:spcPts val="600"/>
              </a:spcAft>
              <a:buNone/>
            </a:pPr>
            <a:r>
              <a:rPr lang="en-US" sz="1500" b="1" dirty="0">
                <a:solidFill>
                  <a:srgbClr val="14181F"/>
                </a:solidFill>
                <a:latin typeface="Arial" pitchFamily="34" charset="0"/>
                <a:ea typeface="Arial" pitchFamily="34" charset="-122"/>
                <a:cs typeface="Arial" pitchFamily="34" charset="-120"/>
              </a:rPr>
              <a:t>Independent and heavy</a:t>
            </a:r>
            <a:endParaRPr lang="en-US" sz="1500" dirty="0"/>
          </a:p>
        </p:txBody>
      </p:sp>
      <p:sp>
        <p:nvSpPr>
          <p:cNvPr id="6" name="Text 3"/>
          <p:cNvSpPr txBox="1"/>
          <p:nvPr/>
        </p:nvSpPr>
        <p:spPr>
          <a:xfrm>
            <a:off x="8961120" y="1920240"/>
            <a:ext cx="2743200" cy="914400"/>
          </a:xfrm>
          <a:prstGeom prst="rect">
            <a:avLst/>
          </a:prstGeom>
          <a:noFill/>
          <a:ln/>
        </p:spPr>
        <p:txBody>
          <a:bodyPr wrap="square" lIns="0" tIns="0" rIns="0" bIns="0" rtlCol="0" anchor="t"/>
          <a:lstStyle/>
          <a:p>
            <a:pPr algn="l" indent="0" marL="0">
              <a:spcAft>
                <a:spcPts val="600"/>
              </a:spcAft>
              <a:buNone/>
            </a:pPr>
            <a:r>
              <a:rPr lang="en-US" sz="1300" dirty="0">
                <a:solidFill>
                  <a:srgbClr val="14181F"/>
                </a:solidFill>
                <a:latin typeface="Arial" pitchFamily="34" charset="0"/>
                <a:ea typeface="Arial" pitchFamily="34" charset="-122"/>
                <a:cs typeface="Arial" pitchFamily="34" charset="-120"/>
              </a:rPr>
              <a:t>compute calls reach 5.2× at 6 threads and keep climbing onto efficiency cores.</a:t>
            </a:r>
            <a:endParaRPr lang="en-US" sz="1300" dirty="0"/>
          </a:p>
        </p:txBody>
      </p:sp>
      <p:sp>
        <p:nvSpPr>
          <p:cNvPr id="7" name="Text 4"/>
          <p:cNvSpPr txBox="1"/>
          <p:nvPr/>
        </p:nvSpPr>
        <p:spPr>
          <a:xfrm>
            <a:off x="8961120" y="2926080"/>
            <a:ext cx="2743200" cy="365760"/>
          </a:xfrm>
          <a:prstGeom prst="rect">
            <a:avLst/>
          </a:prstGeom>
          <a:noFill/>
          <a:ln/>
        </p:spPr>
        <p:txBody>
          <a:bodyPr wrap="square" lIns="0" tIns="0" rIns="0" bIns="0" rtlCol="0" anchor="t"/>
          <a:lstStyle/>
          <a:p>
            <a:pPr algn="l" indent="0" marL="0">
              <a:spcAft>
                <a:spcPts val="600"/>
              </a:spcAft>
              <a:buNone/>
            </a:pPr>
            <a:r>
              <a:rPr lang="en-US" sz="1500" b="1" dirty="0">
                <a:solidFill>
                  <a:srgbClr val="14181F"/>
                </a:solidFill>
                <a:latin typeface="Arial" pitchFamily="34" charset="0"/>
                <a:ea typeface="Arial" pitchFamily="34" charset="-122"/>
                <a:cs typeface="Arial" pitchFamily="34" charset="-120"/>
              </a:rPr>
              <a:t>Independent and light</a:t>
            </a:r>
            <a:endParaRPr lang="en-US" sz="1500" dirty="0"/>
          </a:p>
        </p:txBody>
      </p:sp>
      <p:sp>
        <p:nvSpPr>
          <p:cNvPr id="8" name="Text 5"/>
          <p:cNvSpPr txBox="1"/>
          <p:nvPr/>
        </p:nvSpPr>
        <p:spPr>
          <a:xfrm>
            <a:off x="8961120" y="3291840"/>
            <a:ext cx="2743200" cy="914400"/>
          </a:xfrm>
          <a:prstGeom prst="rect">
            <a:avLst/>
          </a:prstGeom>
          <a:noFill/>
          <a:ln/>
        </p:spPr>
        <p:txBody>
          <a:bodyPr wrap="square" lIns="0" tIns="0" rIns="0" bIns="0" rtlCol="0" anchor="t"/>
          <a:lstStyle/>
          <a:p>
            <a:pPr algn="l" indent="0" marL="0">
              <a:spcAft>
                <a:spcPts val="600"/>
              </a:spcAft>
              <a:buNone/>
            </a:pPr>
            <a:r>
              <a:rPr lang="en-US" sz="1300" dirty="0">
                <a:solidFill>
                  <a:srgbClr val="14181F"/>
                </a:solidFill>
                <a:latin typeface="Arial" pitchFamily="34" charset="0"/>
                <a:ea typeface="Arial" pitchFamily="34" charset="-122"/>
                <a:cs typeface="Arial" pitchFamily="34" charset="-120"/>
              </a:rPr>
              <a:t>ETH and ERC-20 transfers peak at 1.4–3.0× around 4–6 threads, then lose speed on efficiency cores.</a:t>
            </a:r>
            <a:endParaRPr lang="en-US" sz="1300" dirty="0"/>
          </a:p>
        </p:txBody>
      </p:sp>
      <p:sp>
        <p:nvSpPr>
          <p:cNvPr id="9" name="Text 6"/>
          <p:cNvSpPr txBox="1"/>
          <p:nvPr/>
        </p:nvSpPr>
        <p:spPr>
          <a:xfrm>
            <a:off x="8961120" y="4297680"/>
            <a:ext cx="2743200" cy="365760"/>
          </a:xfrm>
          <a:prstGeom prst="rect">
            <a:avLst/>
          </a:prstGeom>
          <a:noFill/>
          <a:ln/>
        </p:spPr>
        <p:txBody>
          <a:bodyPr wrap="square" lIns="0" tIns="0" rIns="0" bIns="0" rtlCol="0" anchor="t"/>
          <a:lstStyle/>
          <a:p>
            <a:pPr algn="l" indent="0" marL="0">
              <a:spcAft>
                <a:spcPts val="600"/>
              </a:spcAft>
              <a:buNone/>
            </a:pPr>
            <a:r>
              <a:rPr lang="en-US" sz="1500" b="1" dirty="0">
                <a:solidFill>
                  <a:srgbClr val="14181F"/>
                </a:solidFill>
                <a:latin typeface="Arial" pitchFamily="34" charset="0"/>
                <a:ea typeface="Arial" pitchFamily="34" charset="-122"/>
                <a:cs typeface="Arial" pitchFamily="34" charset="-120"/>
              </a:rPr>
              <a:t>Dependent</a:t>
            </a:r>
            <a:endParaRPr lang="en-US" sz="1500" dirty="0"/>
          </a:p>
        </p:txBody>
      </p:sp>
      <p:sp>
        <p:nvSpPr>
          <p:cNvPr id="10" name="Text 7"/>
          <p:cNvSpPr txBox="1"/>
          <p:nvPr/>
        </p:nvSpPr>
        <p:spPr>
          <a:xfrm>
            <a:off x="8961120" y="4663440"/>
            <a:ext cx="2743200" cy="914400"/>
          </a:xfrm>
          <a:prstGeom prst="rect">
            <a:avLst/>
          </a:prstGeom>
          <a:noFill/>
          <a:ln/>
        </p:spPr>
        <p:txBody>
          <a:bodyPr wrap="square" lIns="0" tIns="0" rIns="0" bIns="0" rtlCol="0" anchor="t"/>
          <a:lstStyle/>
          <a:p>
            <a:pPr algn="l" indent="0" marL="0">
              <a:spcAft>
                <a:spcPts val="600"/>
              </a:spcAft>
              <a:buNone/>
            </a:pPr>
            <a:r>
              <a:rPr lang="en-US" sz="1300" dirty="0">
                <a:solidFill>
                  <a:srgbClr val="14181F"/>
                </a:solidFill>
                <a:latin typeface="Arial" pitchFamily="34" charset="0"/>
                <a:ea typeface="Arial" pitchFamily="34" charset="-122"/>
                <a:cs typeface="Arial" pitchFamily="34" charset="-120"/>
              </a:rPr>
              <a:t>NFT mint and one AMM pool: every scheduler is slower than sequential.</a:t>
            </a:r>
            <a:endParaRPr lang="en-US" sz="1300" dirty="0"/>
          </a:p>
        </p:txBody>
      </p:sp>
      <p:sp>
        <p:nvSpPr>
          <p:cNvPr id="11" name="Text 8"/>
          <p:cNvSpPr txBox="1"/>
          <p:nvPr/>
        </p:nvSpPr>
        <p:spPr>
          <a:xfrm>
            <a:off x="548640" y="6400800"/>
            <a:ext cx="11094415" cy="274320"/>
          </a:xfrm>
          <a:prstGeom prst="rect">
            <a:avLst/>
          </a:prstGeom>
          <a:noFill/>
          <a:ln/>
        </p:spPr>
        <p:txBody>
          <a:bodyPr wrap="square" lIns="0" tIns="0" rIns="0" bIns="0" rtlCol="0" anchor="ctr"/>
          <a:lstStyle/>
          <a:p>
            <a:pPr indent="0" marL="0">
              <a:buNone/>
            </a:pPr>
            <a:r>
              <a:rPr lang="en-US" sz="1000" dirty="0">
                <a:solidFill>
                  <a:srgbClr val="5A6272"/>
                </a:solidFill>
                <a:latin typeface="Arial" pitchFamily="34" charset="0"/>
                <a:ea typeface="Arial" pitchFamily="34" charset="-122"/>
                <a:cs typeface="Arial" pitchFamily="34" charset="-120"/>
              </a:rPr>
              <a:t>Shaded: threads beyond the 6 performance cores. Median of 5 runs; every run verified.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EB6834"/>
                </a:solidFill>
                <a:latin typeface="Arial" pitchFamily="34" charset="0"/>
                <a:ea typeface="Arial" pitchFamily="34" charset="-122"/>
                <a:cs typeface="Arial" pitchFamily="34" charset="-120"/>
              </a:rPr>
              <a:t>RESULT 2</a:t>
            </a:r>
            <a:endParaRPr lang="en-US" sz="1100" dirty="0"/>
          </a:p>
        </p:txBody>
      </p:sp>
      <p:sp>
        <p:nvSpPr>
          <p:cNvPr id="3" name="Text 1"/>
          <p:cNvSpPr txBox="1"/>
          <p:nvPr/>
        </p:nvSpPr>
        <p:spPr>
          <a:xfrm>
            <a:off x="548640" y="411480"/>
            <a:ext cx="11094415" cy="822960"/>
          </a:xfrm>
          <a:prstGeom prst="rect">
            <a:avLst/>
          </a:prstGeom>
          <a:noFill/>
          <a:ln/>
        </p:spPr>
        <p:txBody>
          <a:bodyPr wrap="square" lIns="0" tIns="0" rIns="0" bIns="0" rtlCol="0" anchor="t"/>
          <a:lstStyle/>
          <a:p>
            <a:pPr indent="0" marL="0">
              <a:buNone/>
            </a:pPr>
            <a:r>
              <a:rPr lang="en-US" sz="2800" b="1" dirty="0">
                <a:solidFill>
                  <a:srgbClr val="14181F"/>
                </a:solidFill>
                <a:latin typeface="Arial" pitchFamily="34" charset="0"/>
                <a:ea typeface="Arial" pitchFamily="34" charset="-122"/>
                <a:cs typeface="Arial" pitchFamily="34" charset="-120"/>
              </a:rPr>
              <a:t>Chain length kills speedup — not how many transactions conflict</a:t>
            </a:r>
            <a:endParaRPr lang="en-US" sz="2800" dirty="0"/>
          </a:p>
        </p:txBody>
      </p:sp>
      <p:pic>
        <p:nvPicPr>
          <p:cNvPr id="4" name="Image 0" descr="/Users/franz/Desktop/SC6109/docs/figures/fig2_speedup_by_density.png">    </p:cNvPr>
          <p:cNvPicPr>
            <a:picLocks noChangeAspect="1"/>
          </p:cNvPicPr>
          <p:nvPr/>
        </p:nvPicPr>
        <p:blipFill>
          <a:blip r:embed="rId1"/>
          <a:stretch>
            <a:fillRect/>
          </a:stretch>
        </p:blipFill>
        <p:spPr>
          <a:xfrm>
            <a:off x="548640" y="1280160"/>
            <a:ext cx="5303520" cy="4644063"/>
          </a:xfrm>
          <a:prstGeom prst="rect">
            <a:avLst/>
          </a:prstGeom>
        </p:spPr>
      </p:pic>
      <p:sp>
        <p:nvSpPr>
          <p:cNvPr id="5" name="Text 2"/>
          <p:cNvSpPr txBox="1"/>
          <p:nvPr/>
        </p:nvSpPr>
        <p:spPr>
          <a:xfrm>
            <a:off x="6492240" y="1417320"/>
            <a:ext cx="5120640" cy="365760"/>
          </a:xfrm>
          <a:prstGeom prst="rect">
            <a:avLst/>
          </a:prstGeom>
          <a:noFill/>
          <a:ln/>
        </p:spPr>
        <p:txBody>
          <a:bodyPr wrap="square" lIns="0" tIns="0" rIns="0" bIns="0" rtlCol="0" anchor="t"/>
          <a:lstStyle/>
          <a:p>
            <a:pPr algn="l" indent="0" marL="0">
              <a:spcAft>
                <a:spcPts val="600"/>
              </a:spcAft>
              <a:buNone/>
            </a:pPr>
            <a:r>
              <a:rPr lang="en-US" sz="1400" b="1" dirty="0">
                <a:solidFill>
                  <a:srgbClr val="5A6272"/>
                </a:solidFill>
                <a:latin typeface="Arial" pitchFamily="34" charset="0"/>
                <a:ea typeface="Arial" pitchFamily="34" charset="-122"/>
                <a:cs typeface="Arial" pitchFamily="34" charset="-120"/>
              </a:rPr>
              <a:t>Block-STM, 6 threads</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92240" y="1828800"/>
          <a:ext cx="5120640" cy="914400"/>
        </p:xfrm>
        <a:graphic>
          <a:graphicData uri="http://schemas.openxmlformats.org/drawingml/2006/table">
            <a:tbl>
              <a:tblPr/>
              <a:tblGrid>
                <a:gridCol w="2194560"/>
                <a:gridCol w="914400"/>
                <a:gridCol w="914400"/>
                <a:gridCol w="1097280"/>
              </a:tblGrid>
              <a:tr h="384048">
                <a:tc>
                  <a:txBody>
                    <a:bodyPr/>
                    <a:lstStyle/>
                    <a:p>
                      <a:pPr algn="l" indent="0" marL="0">
                        <a:buNone/>
                      </a:pPr>
                      <a:r>
                        <a:rPr lang="en-US" sz="1300" b="1" dirty="0">
                          <a:solidFill>
                            <a:srgbClr val="5A6272"/>
                          </a:solidFill>
                          <a:latin typeface="Arial" pitchFamily="34" charset="0"/>
                          <a:ea typeface="Arial" pitchFamily="34" charset="-122"/>
                          <a:cs typeface="Arial" pitchFamily="34" charset="-120"/>
                        </a:rPr>
                        <a:t>Workload</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c>
                  <a:txBody>
                    <a:bodyPr/>
                    <a:lstStyle/>
                    <a:p>
                      <a:pPr algn="r" indent="0" marL="0">
                        <a:buNone/>
                      </a:pPr>
                      <a:r>
                        <a:rPr lang="en-US" sz="1300" b="1" dirty="0">
                          <a:solidFill>
                            <a:srgbClr val="5A6272"/>
                          </a:solidFill>
                          <a:latin typeface="Arial" pitchFamily="34" charset="0"/>
                          <a:ea typeface="Arial" pitchFamily="34" charset="-122"/>
                          <a:cs typeface="Arial" pitchFamily="34" charset="-120"/>
                        </a:rPr>
                        <a:t>Density</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c>
                  <a:txBody>
                    <a:bodyPr/>
                    <a:lstStyle/>
                    <a:p>
                      <a:pPr algn="r" indent="0" marL="0">
                        <a:buNone/>
                      </a:pPr>
                      <a:r>
                        <a:rPr lang="en-US" sz="1300" b="1" dirty="0">
                          <a:solidFill>
                            <a:srgbClr val="5A6272"/>
                          </a:solidFill>
                          <a:latin typeface="Arial" pitchFamily="34" charset="0"/>
                          <a:ea typeface="Arial" pitchFamily="34" charset="-122"/>
                          <a:cs typeface="Arial" pitchFamily="34" charset="-120"/>
                        </a:rPr>
                        <a:t>Chain</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c>
                  <a:txBody>
                    <a:bodyPr/>
                    <a:lstStyle/>
                    <a:p>
                      <a:pPr algn="r" indent="0" marL="0">
                        <a:buNone/>
                      </a:pPr>
                      <a:r>
                        <a:rPr lang="en-US" sz="1300" b="1" dirty="0">
                          <a:solidFill>
                            <a:srgbClr val="5A6272"/>
                          </a:solidFill>
                          <a:latin typeface="Arial" pitchFamily="34" charset="0"/>
                          <a:ea typeface="Arial" pitchFamily="34" charset="-122"/>
                          <a:cs typeface="Arial" pitchFamily="34" charset="-120"/>
                        </a:rPr>
                        <a:t>Speedup</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r>
              <a:tr h="384048">
                <a:tc>
                  <a:txBody>
                    <a:bodyPr/>
                    <a:lstStyle/>
                    <a:p>
                      <a:pPr algn="l" indent="0" marL="0">
                        <a:buNone/>
                      </a:pPr>
                      <a:r>
                        <a:rPr lang="en-US" sz="1300" dirty="0">
                          <a:solidFill>
                            <a:srgbClr val="14181F"/>
                          </a:solidFill>
                          <a:latin typeface="Arial" pitchFamily="34" charset="0"/>
                          <a:ea typeface="Arial" pitchFamily="34" charset="-122"/>
                          <a:cs typeface="Arial" pitchFamily="34" charset="-120"/>
                        </a:rPr>
                        <a:t>transfers, r = 1</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c>
                  <a:txBody>
                    <a:bodyPr/>
                    <a:lstStyle/>
                    <a:p>
                      <a:pPr algn="r" indent="0" marL="0">
                        <a:buNone/>
                      </a:pPr>
                      <a:r>
                        <a:rPr lang="en-US" sz="1300" dirty="0">
                          <a:solidFill>
                            <a:srgbClr val="14181F"/>
                          </a:solidFill>
                          <a:latin typeface="Arial" pitchFamily="34" charset="0"/>
                          <a:ea typeface="Arial" pitchFamily="34" charset="-122"/>
                          <a:cs typeface="Arial" pitchFamily="34" charset="-120"/>
                        </a:rPr>
                        <a:t>0.75</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c>
                  <a:txBody>
                    <a:bodyPr/>
                    <a:lstStyle/>
                    <a:p>
                      <a:pPr algn="r" indent="0" marL="0">
                        <a:buNone/>
                      </a:pPr>
                      <a:r>
                        <a:rPr lang="en-US" sz="1300" dirty="0">
                          <a:solidFill>
                            <a:srgbClr val="14181F"/>
                          </a:solidFill>
                          <a:latin typeface="Arial" pitchFamily="34" charset="0"/>
                          <a:ea typeface="Arial" pitchFamily="34" charset="-122"/>
                          <a:cs typeface="Arial" pitchFamily="34" charset="-120"/>
                        </a:rPr>
                        <a:t>11</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c>
                  <a:txBody>
                    <a:bodyPr/>
                    <a:lstStyle/>
                    <a:p>
                      <a:pPr algn="r" indent="0" marL="0">
                        <a:buNone/>
                      </a:pPr>
                      <a:r>
                        <a:rPr lang="en-US" sz="1300" dirty="0">
                          <a:solidFill>
                            <a:srgbClr val="14181F"/>
                          </a:solidFill>
                          <a:latin typeface="Arial" pitchFamily="34" charset="0"/>
                          <a:ea typeface="Arial" pitchFamily="34" charset="-122"/>
                          <a:cs typeface="Arial" pitchFamily="34" charset="-120"/>
                        </a:rPr>
                        <a:t>1.29×</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r>
              <a:tr h="384048">
                <a:tc>
                  <a:txBody>
                    <a:bodyPr/>
                    <a:lstStyle/>
                    <a:p>
                      <a:pPr algn="l" indent="0" marL="0">
                        <a:buNone/>
                      </a:pPr>
                      <a:r>
                        <a:rPr lang="en-US" sz="1300" dirty="0">
                          <a:solidFill>
                            <a:srgbClr val="14181F"/>
                          </a:solidFill>
                          <a:latin typeface="Arial" pitchFamily="34" charset="0"/>
                          <a:ea typeface="Arial" pitchFamily="34" charset="-122"/>
                          <a:cs typeface="Arial" pitchFamily="34" charset="-120"/>
                        </a:rPr>
                        <a:t>transfers, Zipf 0.8</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c>
                  <a:txBody>
                    <a:bodyPr/>
                    <a:lstStyle/>
                    <a:p>
                      <a:pPr algn="r" indent="0" marL="0">
                        <a:buNone/>
                      </a:pPr>
                      <a:r>
                        <a:rPr lang="en-US" sz="1300" dirty="0">
                          <a:solidFill>
                            <a:srgbClr val="14181F"/>
                          </a:solidFill>
                          <a:latin typeface="Arial" pitchFamily="34" charset="0"/>
                          <a:ea typeface="Arial" pitchFamily="34" charset="-122"/>
                          <a:cs typeface="Arial" pitchFamily="34" charset="-120"/>
                        </a:rPr>
                        <a:t>0.81</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c>
                  <a:txBody>
                    <a:bodyPr/>
                    <a:lstStyle/>
                    <a:p>
                      <a:pPr algn="r" indent="0" marL="0">
                        <a:buNone/>
                      </a:pPr>
                      <a:r>
                        <a:rPr lang="en-US" sz="1300" dirty="0">
                          <a:solidFill>
                            <a:srgbClr val="14181F"/>
                          </a:solidFill>
                          <a:latin typeface="Arial" pitchFamily="34" charset="0"/>
                          <a:ea typeface="Arial" pitchFamily="34" charset="-122"/>
                          <a:cs typeface="Arial" pitchFamily="34" charset="-120"/>
                        </a:rPr>
                        <a:t>110</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c>
                  <a:txBody>
                    <a:bodyPr/>
                    <a:lstStyle/>
                    <a:p>
                      <a:pPr algn="r" indent="0" marL="0">
                        <a:buNone/>
                      </a:pPr>
                      <a:r>
                        <a:rPr lang="en-US" sz="1300" dirty="0">
                          <a:solidFill>
                            <a:srgbClr val="14181F"/>
                          </a:solidFill>
                          <a:latin typeface="Arial" pitchFamily="34" charset="0"/>
                          <a:ea typeface="Arial" pitchFamily="34" charset="-122"/>
                          <a:cs typeface="Arial" pitchFamily="34" charset="-120"/>
                        </a:rPr>
                        <a:t>1.26×</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r>
              <a:tr h="384048">
                <a:tc>
                  <a:txBody>
                    <a:bodyPr/>
                    <a:lstStyle/>
                    <a:p>
                      <a:pPr algn="l" indent="0" marL="0">
                        <a:buNone/>
                      </a:pPr>
                      <a:r>
                        <a:rPr lang="en-US" sz="1300" dirty="0">
                          <a:solidFill>
                            <a:srgbClr val="14181F"/>
                          </a:solidFill>
                          <a:latin typeface="Arial" pitchFamily="34" charset="0"/>
                          <a:ea typeface="Arial" pitchFamily="34" charset="-122"/>
                          <a:cs typeface="Arial" pitchFamily="34" charset="-120"/>
                        </a:rPr>
                        <a:t>transfers, Zipf 1.2</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c>
                  <a:txBody>
                    <a:bodyPr/>
                    <a:lstStyle/>
                    <a:p>
                      <a:pPr algn="r" indent="0" marL="0">
                        <a:buNone/>
                      </a:pPr>
                      <a:r>
                        <a:rPr lang="en-US" sz="1300" dirty="0">
                          <a:solidFill>
                            <a:srgbClr val="14181F"/>
                          </a:solidFill>
                          <a:latin typeface="Arial" pitchFamily="34" charset="0"/>
                          <a:ea typeface="Arial" pitchFamily="34" charset="-122"/>
                          <a:cs typeface="Arial" pitchFamily="34" charset="-120"/>
                        </a:rPr>
                        <a:t>0.90</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c>
                  <a:txBody>
                    <a:bodyPr/>
                    <a:lstStyle/>
                    <a:p>
                      <a:pPr algn="r" indent="0" marL="0">
                        <a:buNone/>
                      </a:pPr>
                      <a:r>
                        <a:rPr lang="en-US" sz="1300" dirty="0">
                          <a:solidFill>
                            <a:srgbClr val="14181F"/>
                          </a:solidFill>
                          <a:latin typeface="Arial" pitchFamily="34" charset="0"/>
                          <a:ea typeface="Arial" pitchFamily="34" charset="-122"/>
                          <a:cs typeface="Arial" pitchFamily="34" charset="-120"/>
                        </a:rPr>
                        <a:t>432</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c>
                  <a:txBody>
                    <a:bodyPr/>
                    <a:lstStyle/>
                    <a:p>
                      <a:pPr algn="r" indent="0" marL="0">
                        <a:buNone/>
                      </a:pPr>
                      <a:r>
                        <a:rPr lang="en-US" sz="1300" dirty="0">
                          <a:solidFill>
                            <a:srgbClr val="14181F"/>
                          </a:solidFill>
                          <a:latin typeface="Arial" pitchFamily="34" charset="0"/>
                          <a:ea typeface="Arial" pitchFamily="34" charset="-122"/>
                          <a:cs typeface="Arial" pitchFamily="34" charset="-120"/>
                        </a:rPr>
                        <a:t>1.07×</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r>
              <a:tr h="384048">
                <a:tc>
                  <a:txBody>
                    <a:bodyPr/>
                    <a:lstStyle/>
                    <a:p>
                      <a:pPr algn="l" indent="0" marL="0">
                        <a:buNone/>
                      </a:pPr>
                      <a:r>
                        <a:rPr lang="en-US" sz="1300" dirty="0">
                          <a:solidFill>
                            <a:srgbClr val="14181F"/>
                          </a:solidFill>
                          <a:latin typeface="Arial" pitchFamily="34" charset="0"/>
                          <a:ea typeface="Arial" pitchFamily="34" charset="-122"/>
                          <a:cs typeface="Arial" pitchFamily="34" charset="-120"/>
                        </a:rPr>
                        <a:t>ERC-20, Zipf 1.2</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c>
                  <a:txBody>
                    <a:bodyPr/>
                    <a:lstStyle/>
                    <a:p>
                      <a:pPr algn="r" indent="0" marL="0">
                        <a:buNone/>
                      </a:pPr>
                      <a:r>
                        <a:rPr lang="en-US" sz="1300" dirty="0">
                          <a:solidFill>
                            <a:srgbClr val="14181F"/>
                          </a:solidFill>
                          <a:latin typeface="Arial" pitchFamily="34" charset="0"/>
                          <a:ea typeface="Arial" pitchFamily="34" charset="-122"/>
                          <a:cs typeface="Arial" pitchFamily="34" charset="-120"/>
                        </a:rPr>
                        <a:t>0.90</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c>
                  <a:txBody>
                    <a:bodyPr/>
                    <a:lstStyle/>
                    <a:p>
                      <a:pPr algn="r" indent="0" marL="0">
                        <a:buNone/>
                      </a:pPr>
                      <a:r>
                        <a:rPr lang="en-US" sz="1300" dirty="0">
                          <a:solidFill>
                            <a:srgbClr val="14181F"/>
                          </a:solidFill>
                          <a:latin typeface="Arial" pitchFamily="34" charset="0"/>
                          <a:ea typeface="Arial" pitchFamily="34" charset="-122"/>
                          <a:cs typeface="Arial" pitchFamily="34" charset="-120"/>
                        </a:rPr>
                        <a:t>432</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c>
                  <a:txBody>
                    <a:bodyPr/>
                    <a:lstStyle/>
                    <a:p>
                      <a:pPr algn="r" indent="0" marL="0">
                        <a:buNone/>
                      </a:pPr>
                      <a:r>
                        <a:rPr lang="en-US" sz="1300" dirty="0">
                          <a:solidFill>
                            <a:srgbClr val="14181F"/>
                          </a:solidFill>
                          <a:latin typeface="Arial" pitchFamily="34" charset="0"/>
                          <a:ea typeface="Arial" pitchFamily="34" charset="-122"/>
                          <a:cs typeface="Arial" pitchFamily="34" charset="-120"/>
                        </a:rPr>
                        <a:t>1.67×</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r>
              <a:tr h="384048">
                <a:tc>
                  <a:txBody>
                    <a:bodyPr/>
                    <a:lstStyle/>
                    <a:p>
                      <a:pPr algn="l" indent="0" marL="0">
                        <a:buNone/>
                      </a:pPr>
                      <a:r>
                        <a:rPr lang="en-US" sz="1300" dirty="0">
                          <a:solidFill>
                            <a:srgbClr val="14181F"/>
                          </a:solidFill>
                          <a:latin typeface="Arial" pitchFamily="34" charset="0"/>
                          <a:ea typeface="Arial" pitchFamily="34" charset="-122"/>
                          <a:cs typeface="Arial" pitchFamily="34" charset="-120"/>
                        </a:rPr>
                        <a:t>transfers, Zipf 2.0</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c>
                  <a:txBody>
                    <a:bodyPr/>
                    <a:lstStyle/>
                    <a:p>
                      <a:pPr algn="r" indent="0" marL="0">
                        <a:buNone/>
                      </a:pPr>
                      <a:r>
                        <a:rPr lang="en-US" sz="1300" dirty="0">
                          <a:solidFill>
                            <a:srgbClr val="14181F"/>
                          </a:solidFill>
                          <a:latin typeface="Arial" pitchFamily="34" charset="0"/>
                          <a:ea typeface="Arial" pitchFamily="34" charset="-122"/>
                          <a:cs typeface="Arial" pitchFamily="34" charset="-120"/>
                        </a:rPr>
                        <a:t>0.98</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c>
                  <a:txBody>
                    <a:bodyPr/>
                    <a:lstStyle/>
                    <a:p>
                      <a:pPr algn="r" indent="0" marL="0">
                        <a:buNone/>
                      </a:pPr>
                      <a:r>
                        <a:rPr lang="en-US" sz="1300" dirty="0">
                          <a:solidFill>
                            <a:srgbClr val="14181F"/>
                          </a:solidFill>
                          <a:latin typeface="Arial" pitchFamily="34" charset="0"/>
                          <a:ea typeface="Arial" pitchFamily="34" charset="-122"/>
                          <a:cs typeface="Arial" pitchFamily="34" charset="-120"/>
                        </a:rPr>
                        <a:t>1,217</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c>
                  <a:txBody>
                    <a:bodyPr/>
                    <a:lstStyle/>
                    <a:p>
                      <a:pPr algn="r" indent="0" marL="0">
                        <a:buNone/>
                      </a:pPr>
                      <a:r>
                        <a:rPr lang="en-US" sz="1300" b="1" dirty="0">
                          <a:solidFill>
                            <a:srgbClr val="EB6834"/>
                          </a:solidFill>
                          <a:latin typeface="Arial" pitchFamily="34" charset="0"/>
                          <a:ea typeface="Arial" pitchFamily="34" charset="-122"/>
                          <a:cs typeface="Arial" pitchFamily="34" charset="-120"/>
                        </a:rPr>
                        <a:t>0.45×</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r>
              <a:tr h="384048">
                <a:tc>
                  <a:txBody>
                    <a:bodyPr/>
                    <a:lstStyle/>
                    <a:p>
                      <a:pPr algn="l" indent="0" marL="0">
                        <a:buNone/>
                      </a:pPr>
                      <a:r>
                        <a:rPr lang="en-US" sz="1300" dirty="0">
                          <a:solidFill>
                            <a:srgbClr val="14181F"/>
                          </a:solidFill>
                          <a:latin typeface="Arial" pitchFamily="34" charset="0"/>
                          <a:ea typeface="Arial" pitchFamily="34" charset="-122"/>
                          <a:cs typeface="Arial" pitchFamily="34" charset="-120"/>
                        </a:rPr>
                        <a:t>NFT mint</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c>
                  <a:txBody>
                    <a:bodyPr/>
                    <a:lstStyle/>
                    <a:p>
                      <a:pPr algn="r" indent="0" marL="0">
                        <a:buNone/>
                      </a:pPr>
                      <a:r>
                        <a:rPr lang="en-US" sz="1300" dirty="0">
                          <a:solidFill>
                            <a:srgbClr val="14181F"/>
                          </a:solidFill>
                          <a:latin typeface="Arial" pitchFamily="34" charset="0"/>
                          <a:ea typeface="Arial" pitchFamily="34" charset="-122"/>
                          <a:cs typeface="Arial" pitchFamily="34" charset="-120"/>
                        </a:rPr>
                        <a:t>1.00</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c>
                  <a:txBody>
                    <a:bodyPr/>
                    <a:lstStyle/>
                    <a:p>
                      <a:pPr algn="r" indent="0" marL="0">
                        <a:buNone/>
                      </a:pPr>
                      <a:r>
                        <a:rPr lang="en-US" sz="1300" dirty="0">
                          <a:solidFill>
                            <a:srgbClr val="14181F"/>
                          </a:solidFill>
                          <a:latin typeface="Arial" pitchFamily="34" charset="0"/>
                          <a:ea typeface="Arial" pitchFamily="34" charset="-122"/>
                          <a:cs typeface="Arial" pitchFamily="34" charset="-120"/>
                        </a:rPr>
                        <a:t>2,000</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c>
                  <a:txBody>
                    <a:bodyPr/>
                    <a:lstStyle/>
                    <a:p>
                      <a:pPr algn="r" indent="0" marL="0">
                        <a:buNone/>
                      </a:pPr>
                      <a:r>
                        <a:rPr lang="en-US" sz="1300" b="1" dirty="0">
                          <a:solidFill>
                            <a:srgbClr val="EB6834"/>
                          </a:solidFill>
                          <a:latin typeface="Arial" pitchFamily="34" charset="0"/>
                          <a:ea typeface="Arial" pitchFamily="34" charset="-122"/>
                          <a:cs typeface="Arial" pitchFamily="34" charset="-120"/>
                        </a:rPr>
                        <a:t>0.43×</a:t>
                      </a:r>
                      <a:endParaRPr lang="en-US" sz="1300" dirty="0">
                        <a:latin typeface="Arial" charset="0"/>
                        <a:ea typeface="Arial" charset="0"/>
                        <a:cs typeface="Arial" charset="0"/>
                      </a:endParaRPr>
                    </a:p>
                  </a:txBody>
                  <a:tcPr marL="3657600" marR="3657600" marT="0" marB="0" anchor="ctr">
                    <a:lnL w="0" cap="flat" cmpd="sng" algn="ctr">
                      <a:noFill/>
                    </a:lnL>
                    <a:lnR w="0" cap="flat" cmpd="sng" algn="ctr">
                      <a:noFill/>
                    </a:lnR>
                    <a:lnT w="0" cap="flat" cmpd="sng" algn="ctr">
                      <a:noFill/>
                    </a:lnT>
                    <a:lnB w="9525" cap="flat" cmpd="sng" algn="ctr">
                      <a:solidFill>
                        <a:srgbClr val="E3E5EA"/>
                      </a:solidFill>
                      <a:prstDash val="solid"/>
                      <a:round/>
                      <a:headEnd type="none" w="med" len="med"/>
                      <a:tailEnd type="none" w="med" len="med"/>
                    </a:lnB>
                  </a:tcPr>
                </a:tc>
              </a:tr>
            </a:tbl>
          </a:graphicData>
        </a:graphic>
      </p:graphicFrame>
      <p:sp>
        <p:nvSpPr>
          <p:cNvPr id="7" name="Text 3"/>
          <p:cNvSpPr txBox="1"/>
          <p:nvPr/>
        </p:nvSpPr>
        <p:spPr>
          <a:xfrm>
            <a:off x="6492240" y="4709160"/>
            <a:ext cx="5120640" cy="914400"/>
          </a:xfrm>
          <a:prstGeom prst="rect">
            <a:avLst/>
          </a:prstGeom>
          <a:noFill/>
          <a:ln/>
        </p:spPr>
        <p:txBody>
          <a:bodyPr wrap="square" lIns="0" tIns="0" rIns="0" bIns="0" rtlCol="0" anchor="t"/>
          <a:lstStyle/>
          <a:p>
            <a:pPr algn="l" indent="0" marL="0">
              <a:spcAft>
                <a:spcPts val="600"/>
              </a:spcAft>
              <a:buNone/>
            </a:pPr>
            <a:r>
              <a:rPr lang="en-US" sz="1350" dirty="0">
                <a:solidFill>
                  <a:srgbClr val="14181F"/>
                </a:solidFill>
                <a:latin typeface="Arial" pitchFamily="34" charset="0"/>
                <a:ea typeface="Arial" pitchFamily="34" charset="-122"/>
                <a:cs typeface="Arial" pitchFamily="34" charset="-120"/>
              </a:rPr>
              <a:t>Same chain, more work per transaction: ERC-20 gets 1.67× where transfers get 1.07×. Density alone does not describe a workload.</a:t>
            </a:r>
            <a:endParaRPr lang="en-US" sz="1350" dirty="0"/>
          </a:p>
        </p:txBody>
      </p:sp>
      <p:sp>
        <p:nvSpPr>
          <p:cNvPr id="8" name="Text 4"/>
          <p:cNvSpPr txBox="1"/>
          <p:nvPr/>
        </p:nvSpPr>
        <p:spPr>
          <a:xfrm>
            <a:off x="548640" y="6400800"/>
            <a:ext cx="11094415" cy="274320"/>
          </a:xfrm>
          <a:prstGeom prst="rect">
            <a:avLst/>
          </a:prstGeom>
          <a:noFill/>
          <a:ln/>
        </p:spPr>
        <p:txBody>
          <a:bodyPr wrap="square" lIns="0" tIns="0" rIns="0" bIns="0" rtlCol="0" anchor="ctr"/>
          <a:lstStyle/>
          <a:p>
            <a:pPr indent="0" marL="0">
              <a:buNone/>
            </a:pPr>
            <a:r>
              <a:rPr lang="en-US" sz="1000" dirty="0">
                <a:solidFill>
                  <a:srgbClr val="5A6272"/>
                </a:solidFill>
                <a:latin typeface="Arial" pitchFamily="34" charset="0"/>
                <a:ea typeface="Arial" pitchFamily="34" charset="-122"/>
                <a:cs typeface="Arial" pitchFamily="34" charset="-120"/>
              </a:rPr>
              <a:t>Density: fraction of transactions reading an earlier transaction's write, measured from a real execution.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EB6834"/>
                </a:solidFill>
                <a:latin typeface="Arial" pitchFamily="34" charset="0"/>
                <a:ea typeface="Arial" pitchFamily="34" charset="-122"/>
                <a:cs typeface="Arial" pitchFamily="34" charset="-120"/>
              </a:rPr>
              <a:t>RESULT 3</a:t>
            </a:r>
            <a:endParaRPr lang="en-US" sz="1100" dirty="0"/>
          </a:p>
        </p:txBody>
      </p:sp>
      <p:sp>
        <p:nvSpPr>
          <p:cNvPr id="3" name="Text 1"/>
          <p:cNvSpPr txBox="1"/>
          <p:nvPr/>
        </p:nvSpPr>
        <p:spPr>
          <a:xfrm>
            <a:off x="548640" y="411480"/>
            <a:ext cx="11094415" cy="822960"/>
          </a:xfrm>
          <a:prstGeom prst="rect">
            <a:avLst/>
          </a:prstGeom>
          <a:noFill/>
          <a:ln/>
        </p:spPr>
        <p:txBody>
          <a:bodyPr wrap="square" lIns="0" tIns="0" rIns="0" bIns="0" rtlCol="0" anchor="t"/>
          <a:lstStyle/>
          <a:p>
            <a:pPr indent="0" marL="0">
              <a:buNone/>
            </a:pPr>
            <a:r>
              <a:rPr lang="en-US" sz="2800" b="1" dirty="0">
                <a:solidFill>
                  <a:srgbClr val="14181F"/>
                </a:solidFill>
                <a:latin typeface="Arial" pitchFamily="34" charset="0"/>
                <a:ea typeface="Arial" pitchFamily="34" charset="-122"/>
                <a:cs typeface="Arial" pitchFamily="34" charset="-120"/>
              </a:rPr>
              <a:t>A transaction has to do more work than it costs to coordinate</a:t>
            </a:r>
            <a:endParaRPr lang="en-US" sz="2800" dirty="0"/>
          </a:p>
        </p:txBody>
      </p:sp>
      <p:pic>
        <p:nvPicPr>
          <p:cNvPr id="4" name="Image 0" descr="/Users/franz/Desktop/SC6109/docs/figures/fig3_speedup_by_work.png">    </p:cNvPr>
          <p:cNvPicPr>
            <a:picLocks noChangeAspect="1"/>
          </p:cNvPicPr>
          <p:nvPr/>
        </p:nvPicPr>
        <p:blipFill>
          <a:blip r:embed="rId1"/>
          <a:stretch>
            <a:fillRect/>
          </a:stretch>
        </p:blipFill>
        <p:spPr>
          <a:xfrm>
            <a:off x="548640" y="1463040"/>
            <a:ext cx="7315200" cy="4149291"/>
          </a:xfrm>
          <a:prstGeom prst="rect">
            <a:avLst/>
          </a:prstGeom>
        </p:spPr>
      </p:pic>
      <p:sp>
        <p:nvSpPr>
          <p:cNvPr id="5" name="Text 2"/>
          <p:cNvSpPr txBox="1"/>
          <p:nvPr/>
        </p:nvSpPr>
        <p:spPr>
          <a:xfrm>
            <a:off x="8503920" y="1554480"/>
            <a:ext cx="3108960" cy="868680"/>
          </a:xfrm>
          <a:prstGeom prst="rect">
            <a:avLst/>
          </a:prstGeom>
          <a:noFill/>
          <a:ln/>
        </p:spPr>
        <p:txBody>
          <a:bodyPr wrap="square" lIns="0" tIns="0" rIns="0" bIns="0" rtlCol="0" anchor="b"/>
          <a:lstStyle/>
          <a:p>
            <a:pPr indent="0" marL="0">
              <a:buNone/>
            </a:pPr>
            <a:r>
              <a:rPr lang="en-US" sz="4800" b="1" dirty="0">
                <a:solidFill>
                  <a:srgbClr val="EB6834"/>
                </a:solidFill>
                <a:latin typeface="Arial" pitchFamily="34" charset="0"/>
                <a:ea typeface="Arial" pitchFamily="34" charset="-122"/>
                <a:cs typeface="Arial" pitchFamily="34" charset="-120"/>
              </a:rPr>
              <a:t>~40%</a:t>
            </a:r>
            <a:endParaRPr lang="en-US" sz="4800" dirty="0"/>
          </a:p>
        </p:txBody>
      </p:sp>
      <p:sp>
        <p:nvSpPr>
          <p:cNvPr id="6" name="Text 3"/>
          <p:cNvSpPr txBox="1"/>
          <p:nvPr/>
        </p:nvSpPr>
        <p:spPr>
          <a:xfrm>
            <a:off x="8503920" y="2468880"/>
            <a:ext cx="3108960" cy="640080"/>
          </a:xfrm>
          <a:prstGeom prst="rect">
            <a:avLst/>
          </a:prstGeom>
          <a:noFill/>
          <a:ln/>
        </p:spPr>
        <p:txBody>
          <a:bodyPr wrap="square" lIns="0" tIns="0" rIns="0" bIns="0" rtlCol="0" anchor="t"/>
          <a:lstStyle/>
          <a:p>
            <a:pPr indent="0" marL="0">
              <a:buNone/>
            </a:pPr>
            <a:r>
              <a:rPr lang="en-US" sz="1300" dirty="0">
                <a:solidFill>
                  <a:srgbClr val="5A6272"/>
                </a:solidFill>
                <a:latin typeface="Arial" pitchFamily="34" charset="0"/>
                <a:ea typeface="Arial" pitchFamily="34" charset="-122"/>
                <a:cs typeface="Arial" pitchFamily="34" charset="-120"/>
              </a:rPr>
              <a:t>of sequential throughput lost to Block-STM's own machinery at one thread, on light transactions</a:t>
            </a:r>
            <a:endParaRPr lang="en-US" sz="1300" dirty="0"/>
          </a:p>
        </p:txBody>
      </p:sp>
      <p:sp>
        <p:nvSpPr>
          <p:cNvPr id="7" name="Text 4"/>
          <p:cNvSpPr txBox="1"/>
          <p:nvPr/>
        </p:nvSpPr>
        <p:spPr>
          <a:xfrm>
            <a:off x="8503920" y="3566160"/>
            <a:ext cx="3108960" cy="868680"/>
          </a:xfrm>
          <a:prstGeom prst="rect">
            <a:avLst/>
          </a:prstGeom>
          <a:noFill/>
          <a:ln/>
        </p:spPr>
        <p:txBody>
          <a:bodyPr wrap="square" lIns="0" tIns="0" rIns="0" bIns="0" rtlCol="0" anchor="b"/>
          <a:lstStyle/>
          <a:p>
            <a:pPr indent="0" marL="0">
              <a:buNone/>
            </a:pPr>
            <a:r>
              <a:rPr lang="en-US" sz="4800" b="1" dirty="0">
                <a:solidFill>
                  <a:srgbClr val="1BAF7A"/>
                </a:solidFill>
                <a:latin typeface="Arial" pitchFamily="34" charset="0"/>
                <a:ea typeface="Arial" pitchFamily="34" charset="-122"/>
                <a:cs typeface="Arial" pitchFamily="34" charset="-120"/>
              </a:rPr>
              <a:t>92%</a:t>
            </a:r>
            <a:endParaRPr lang="en-US" sz="4800" dirty="0"/>
          </a:p>
        </p:txBody>
      </p:sp>
      <p:sp>
        <p:nvSpPr>
          <p:cNvPr id="8" name="Text 5"/>
          <p:cNvSpPr txBox="1"/>
          <p:nvPr/>
        </p:nvSpPr>
        <p:spPr>
          <a:xfrm>
            <a:off x="8503920" y="4480560"/>
            <a:ext cx="3108960" cy="640080"/>
          </a:xfrm>
          <a:prstGeom prst="rect">
            <a:avLst/>
          </a:prstGeom>
          <a:noFill/>
          <a:ln/>
        </p:spPr>
        <p:txBody>
          <a:bodyPr wrap="square" lIns="0" tIns="0" rIns="0" bIns="0" rtlCol="0" anchor="t"/>
          <a:lstStyle/>
          <a:p>
            <a:pPr indent="0" marL="0">
              <a:buNone/>
            </a:pPr>
            <a:r>
              <a:rPr lang="en-US" sz="1300" dirty="0">
                <a:solidFill>
                  <a:srgbClr val="5A6272"/>
                </a:solidFill>
                <a:latin typeface="Arial" pitchFamily="34" charset="0"/>
                <a:ea typeface="Arial" pitchFamily="34" charset="-122"/>
                <a:cs typeface="Arial" pitchFamily="34" charset="-120"/>
              </a:rPr>
              <a:t>of linear on 6 cores once each transaction does ~78 µs of work</a:t>
            </a:r>
            <a:endParaRPr lang="en-US" sz="1300" dirty="0"/>
          </a:p>
        </p:txBody>
      </p:sp>
      <p:sp>
        <p:nvSpPr>
          <p:cNvPr id="9" name="Text 6"/>
          <p:cNvSpPr txBox="1"/>
          <p:nvPr/>
        </p:nvSpPr>
        <p:spPr>
          <a:xfrm>
            <a:off x="548640" y="6400800"/>
            <a:ext cx="11094415" cy="274320"/>
          </a:xfrm>
          <a:prstGeom prst="rect">
            <a:avLst/>
          </a:prstGeom>
          <a:noFill/>
          <a:ln/>
        </p:spPr>
        <p:txBody>
          <a:bodyPr wrap="square" lIns="0" tIns="0" rIns="0" bIns="0" rtlCol="0" anchor="ctr"/>
          <a:lstStyle/>
          <a:p>
            <a:pPr indent="0" marL="0">
              <a:buNone/>
            </a:pPr>
            <a:r>
              <a:rPr lang="en-US" sz="1000" dirty="0">
                <a:solidFill>
                  <a:srgbClr val="5A6272"/>
                </a:solidFill>
                <a:latin typeface="Arial" pitchFamily="34" charset="0"/>
                <a:ea typeface="Arial" pitchFamily="34" charset="-122"/>
                <a:cs typeface="Arial" pitchFamily="34" charset="-120"/>
              </a:rPr>
              <a:t>sha256 precompile calls with a growing payload; conflicts held near zero.</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EB6834"/>
                </a:solidFill>
                <a:latin typeface="Arial" pitchFamily="34" charset="0"/>
                <a:ea typeface="Arial" pitchFamily="34" charset="-122"/>
                <a:cs typeface="Arial" pitchFamily="34" charset="-120"/>
              </a:rPr>
              <a:t>RESULT 4</a:t>
            </a:r>
            <a:endParaRPr lang="en-US" sz="1100" dirty="0"/>
          </a:p>
        </p:txBody>
      </p:sp>
      <p:sp>
        <p:nvSpPr>
          <p:cNvPr id="3" name="Text 1"/>
          <p:cNvSpPr txBox="1"/>
          <p:nvPr/>
        </p:nvSpPr>
        <p:spPr>
          <a:xfrm>
            <a:off x="548640" y="411480"/>
            <a:ext cx="11094415" cy="822960"/>
          </a:xfrm>
          <a:prstGeom prst="rect">
            <a:avLst/>
          </a:prstGeom>
          <a:noFill/>
          <a:ln/>
        </p:spPr>
        <p:txBody>
          <a:bodyPr wrap="square" lIns="0" tIns="0" rIns="0" bIns="0" rtlCol="0" anchor="t"/>
          <a:lstStyle/>
          <a:p>
            <a:pPr indent="0" marL="0">
              <a:buNone/>
            </a:pPr>
            <a:r>
              <a:rPr lang="en-US" sz="2800" b="1" dirty="0">
                <a:solidFill>
                  <a:srgbClr val="14181F"/>
                </a:solidFill>
                <a:latin typeface="Arial" pitchFamily="34" charset="0"/>
                <a:ea typeface="Arial" pitchFamily="34" charset="-122"/>
                <a:cs typeface="Arial" pitchFamily="34" charset="-120"/>
              </a:rPr>
              <a:t>The scheduler matters as much as the workload</a:t>
            </a:r>
            <a:endParaRPr lang="en-US" sz="2800" dirty="0"/>
          </a:p>
        </p:txBody>
      </p:sp>
      <p:pic>
        <p:nvPicPr>
          <p:cNvPr id="4" name="Image 0" descr="/Users/franz/Desktop/SC6109/docs/figures/fig4_work_amplification.png">    </p:cNvPr>
          <p:cNvPicPr>
            <a:picLocks noChangeAspect="1"/>
          </p:cNvPicPr>
          <p:nvPr/>
        </p:nvPicPr>
        <p:blipFill>
          <a:blip r:embed="rId1"/>
          <a:stretch>
            <a:fillRect/>
          </a:stretch>
        </p:blipFill>
        <p:spPr>
          <a:xfrm>
            <a:off x="548640" y="1325880"/>
            <a:ext cx="7498080" cy="4331646"/>
          </a:xfrm>
          <a:prstGeom prst="rect">
            <a:avLst/>
          </a:prstGeom>
        </p:spPr>
      </p:pic>
      <p:sp>
        <p:nvSpPr>
          <p:cNvPr id="5" name="Text 2"/>
          <p:cNvSpPr txBox="1"/>
          <p:nvPr/>
        </p:nvSpPr>
        <p:spPr>
          <a:xfrm>
            <a:off x="8503920" y="1463040"/>
            <a:ext cx="3108960" cy="868680"/>
          </a:xfrm>
          <a:prstGeom prst="rect">
            <a:avLst/>
          </a:prstGeom>
          <a:noFill/>
          <a:ln/>
        </p:spPr>
        <p:txBody>
          <a:bodyPr wrap="square" lIns="0" tIns="0" rIns="0" bIns="0" rtlCol="0" anchor="b"/>
          <a:lstStyle/>
          <a:p>
            <a:pPr indent="0" marL="0">
              <a:buNone/>
            </a:pPr>
            <a:r>
              <a:rPr lang="en-US" sz="4800" b="1" dirty="0">
                <a:solidFill>
                  <a:srgbClr val="2A78D6"/>
                </a:solidFill>
                <a:latin typeface="Arial" pitchFamily="34" charset="0"/>
                <a:ea typeface="Arial" pitchFamily="34" charset="-122"/>
                <a:cs typeface="Arial" pitchFamily="34" charset="-120"/>
              </a:rPr>
              <a:t>247×</a:t>
            </a:r>
            <a:endParaRPr lang="en-US" sz="4800" dirty="0"/>
          </a:p>
        </p:txBody>
      </p:sp>
      <p:sp>
        <p:nvSpPr>
          <p:cNvPr id="6" name="Text 3"/>
          <p:cNvSpPr txBox="1"/>
          <p:nvPr/>
        </p:nvSpPr>
        <p:spPr>
          <a:xfrm>
            <a:off x="8503920" y="2377440"/>
            <a:ext cx="3108960" cy="640080"/>
          </a:xfrm>
          <a:prstGeom prst="rect">
            <a:avLst/>
          </a:prstGeom>
          <a:noFill/>
          <a:ln/>
        </p:spPr>
        <p:txBody>
          <a:bodyPr wrap="square" lIns="0" tIns="0" rIns="0" bIns="0" rtlCol="0" anchor="t"/>
          <a:lstStyle/>
          <a:p>
            <a:pPr indent="0" marL="0">
              <a:buNone/>
            </a:pPr>
            <a:r>
              <a:rPr lang="en-US" sz="1300" dirty="0">
                <a:solidFill>
                  <a:srgbClr val="5A6272"/>
                </a:solidFill>
                <a:latin typeface="Arial" pitchFamily="34" charset="0"/>
                <a:ea typeface="Arial" pitchFamily="34" charset="-122"/>
                <a:cs typeface="Arial" pitchFamily="34" charset="-120"/>
              </a:rPr>
              <a:t>executions per transaction on an NFT mint under round-based execution — speedup 0.01×</a:t>
            </a:r>
            <a:endParaRPr lang="en-US" sz="1300" dirty="0"/>
          </a:p>
        </p:txBody>
      </p:sp>
      <p:sp>
        <p:nvSpPr>
          <p:cNvPr id="7" name="Text 4"/>
          <p:cNvSpPr txBox="1"/>
          <p:nvPr/>
        </p:nvSpPr>
        <p:spPr>
          <a:xfrm>
            <a:off x="8503920" y="3383280"/>
            <a:ext cx="3108960" cy="868680"/>
          </a:xfrm>
          <a:prstGeom prst="rect">
            <a:avLst/>
          </a:prstGeom>
          <a:noFill/>
          <a:ln/>
        </p:spPr>
        <p:txBody>
          <a:bodyPr wrap="square" lIns="0" tIns="0" rIns="0" bIns="0" rtlCol="0" anchor="b"/>
          <a:lstStyle/>
          <a:p>
            <a:pPr indent="0" marL="0">
              <a:buNone/>
            </a:pPr>
            <a:r>
              <a:rPr lang="en-US" sz="4800" b="1" dirty="0">
                <a:solidFill>
                  <a:srgbClr val="EB6834"/>
                </a:solidFill>
                <a:latin typeface="Arial" pitchFamily="34" charset="0"/>
                <a:ea typeface="Arial" pitchFamily="34" charset="-122"/>
                <a:cs typeface="Arial" pitchFamily="34" charset="-120"/>
              </a:rPr>
              <a:t>1.9×</a:t>
            </a:r>
            <a:endParaRPr lang="en-US" sz="4800" dirty="0"/>
          </a:p>
        </p:txBody>
      </p:sp>
      <p:sp>
        <p:nvSpPr>
          <p:cNvPr id="8" name="Text 5"/>
          <p:cNvSpPr txBox="1"/>
          <p:nvPr/>
        </p:nvSpPr>
        <p:spPr>
          <a:xfrm>
            <a:off x="8503920" y="4297680"/>
            <a:ext cx="3108960" cy="640080"/>
          </a:xfrm>
          <a:prstGeom prst="rect">
            <a:avLst/>
          </a:prstGeom>
          <a:noFill/>
          <a:ln/>
        </p:spPr>
        <p:txBody>
          <a:bodyPr wrap="square" lIns="0" tIns="0" rIns="0" bIns="0" rtlCol="0" anchor="t"/>
          <a:lstStyle/>
          <a:p>
            <a:pPr indent="0" marL="0">
              <a:buNone/>
            </a:pPr>
            <a:r>
              <a:rPr lang="en-US" sz="1300" dirty="0">
                <a:solidFill>
                  <a:srgbClr val="5A6272"/>
                </a:solidFill>
                <a:latin typeface="Arial" pitchFamily="34" charset="0"/>
                <a:ea typeface="Arial" pitchFamily="34" charset="-122"/>
                <a:cs typeface="Arial" pitchFamily="34" charset="-120"/>
              </a:rPr>
              <a:t>under Block-STM on the same block — parking waiting transactions instead of re-running them</a:t>
            </a:r>
            <a:endParaRPr lang="en-US" sz="1300" dirty="0"/>
          </a:p>
        </p:txBody>
      </p:sp>
      <p:sp>
        <p:nvSpPr>
          <p:cNvPr id="9" name="Text 6"/>
          <p:cNvSpPr txBox="1"/>
          <p:nvPr/>
        </p:nvSpPr>
        <p:spPr>
          <a:xfrm>
            <a:off x="548640" y="6400800"/>
            <a:ext cx="11094415" cy="274320"/>
          </a:xfrm>
          <a:prstGeom prst="rect">
            <a:avLst/>
          </a:prstGeom>
          <a:noFill/>
          <a:ln/>
        </p:spPr>
        <p:txBody>
          <a:bodyPr wrap="square" lIns="0" tIns="0" rIns="0" bIns="0" rtlCol="0" anchor="ctr"/>
          <a:lstStyle/>
          <a:p>
            <a:pPr indent="0" marL="0">
              <a:buNone/>
            </a:pPr>
            <a:r>
              <a:rPr lang="en-US" sz="1000" dirty="0">
                <a:solidFill>
                  <a:srgbClr val="5A6272"/>
                </a:solidFill>
                <a:latin typeface="Arial" pitchFamily="34" charset="0"/>
                <a:ea typeface="Arial" pitchFamily="34" charset="-122"/>
                <a:cs typeface="Arial" pitchFamily="34" charset="-120"/>
              </a:rPr>
              <a:t>6 threads. At low density both run each transaction about once.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EB6834"/>
                </a:solidFill>
                <a:latin typeface="Arial" pitchFamily="34" charset="0"/>
                <a:ea typeface="Arial" pitchFamily="34" charset="-122"/>
                <a:cs typeface="Arial" pitchFamily="34" charset="-120"/>
              </a:rPr>
              <a:t>RESULT 5</a:t>
            </a:r>
            <a:endParaRPr lang="en-US" sz="1100" dirty="0"/>
          </a:p>
        </p:txBody>
      </p:sp>
      <p:sp>
        <p:nvSpPr>
          <p:cNvPr id="3" name="Text 1"/>
          <p:cNvSpPr txBox="1"/>
          <p:nvPr/>
        </p:nvSpPr>
        <p:spPr>
          <a:xfrm>
            <a:off x="548640" y="411480"/>
            <a:ext cx="11094415" cy="822960"/>
          </a:xfrm>
          <a:prstGeom prst="rect">
            <a:avLst/>
          </a:prstGeom>
          <a:noFill/>
          <a:ln/>
        </p:spPr>
        <p:txBody>
          <a:bodyPr wrap="square" lIns="0" tIns="0" rIns="0" bIns="0" rtlCol="0" anchor="t"/>
          <a:lstStyle/>
          <a:p>
            <a:pPr indent="0" marL="0">
              <a:buNone/>
            </a:pPr>
            <a:r>
              <a:rPr lang="en-US" sz="2800" b="1" dirty="0">
                <a:solidFill>
                  <a:srgbClr val="14181F"/>
                </a:solidFill>
                <a:latin typeface="Arial" pitchFamily="34" charset="0"/>
                <a:ea typeface="Arial" pitchFamily="34" charset="-122"/>
                <a:cs typeface="Arial" pitchFamily="34" charset="-120"/>
              </a:rPr>
              <a:t>Per-account conflict detection throws ERC-20 parallelism away</a:t>
            </a:r>
            <a:endParaRPr lang="en-US" sz="2800" dirty="0"/>
          </a:p>
        </p:txBody>
      </p:sp>
      <p:pic>
        <p:nvPicPr>
          <p:cNvPr id="4" name="Image 0" descr="/Users/franz/Desktop/SC6109/docs/figures/slide_granularity_erc20.png">    </p:cNvPr>
          <p:cNvPicPr>
            <a:picLocks noChangeAspect="1"/>
          </p:cNvPicPr>
          <p:nvPr/>
        </p:nvPicPr>
        <p:blipFill>
          <a:blip r:embed="rId1"/>
          <a:stretch>
            <a:fillRect/>
          </a:stretch>
        </p:blipFill>
        <p:spPr>
          <a:xfrm>
            <a:off x="548640" y="1371600"/>
            <a:ext cx="6949440" cy="4705105"/>
          </a:xfrm>
          <a:prstGeom prst="rect">
            <a:avLst/>
          </a:prstGeom>
        </p:spPr>
      </p:pic>
      <p:sp>
        <p:nvSpPr>
          <p:cNvPr id="5" name="Text 2"/>
          <p:cNvSpPr txBox="1"/>
          <p:nvPr/>
        </p:nvSpPr>
        <p:spPr>
          <a:xfrm>
            <a:off x="7955280" y="1554480"/>
            <a:ext cx="3657600" cy="365760"/>
          </a:xfrm>
          <a:prstGeom prst="rect">
            <a:avLst/>
          </a:prstGeom>
          <a:noFill/>
          <a:ln/>
        </p:spPr>
        <p:txBody>
          <a:bodyPr wrap="square" lIns="0" tIns="0" rIns="0" bIns="0" rtlCol="0" anchor="t"/>
          <a:lstStyle/>
          <a:p>
            <a:pPr algn="l" indent="0" marL="0">
              <a:spcAft>
                <a:spcPts val="600"/>
              </a:spcAft>
              <a:buNone/>
            </a:pPr>
            <a:r>
              <a:rPr lang="en-US" sz="1500" b="1" dirty="0">
                <a:solidFill>
                  <a:srgbClr val="14181F"/>
                </a:solidFill>
                <a:latin typeface="Arial" pitchFamily="34" charset="0"/>
                <a:ea typeface="Arial" pitchFamily="34" charset="-122"/>
                <a:cs typeface="Arial" pitchFamily="34" charset="-120"/>
              </a:rPr>
              <a:t>Why</a:t>
            </a:r>
            <a:endParaRPr lang="en-US" sz="1500" dirty="0"/>
          </a:p>
        </p:txBody>
      </p:sp>
      <p:sp>
        <p:nvSpPr>
          <p:cNvPr id="6" name="Text 3"/>
          <p:cNvSpPr txBox="1"/>
          <p:nvPr/>
        </p:nvSpPr>
        <p:spPr>
          <a:xfrm>
            <a:off x="7955280" y="1965960"/>
            <a:ext cx="3657600" cy="1737360"/>
          </a:xfrm>
          <a:prstGeom prst="rect">
            <a:avLst/>
          </a:prstGeom>
          <a:noFill/>
          <a:ln/>
        </p:spPr>
        <p:txBody>
          <a:bodyPr wrap="square" lIns="0" tIns="0" rIns="0" bIns="0" rtlCol="0" anchor="t"/>
          <a:lstStyle/>
          <a:p>
            <a:pPr algn="l" indent="0" marL="0">
              <a:spcAft>
                <a:spcPts val="600"/>
              </a:spcAft>
              <a:buNone/>
            </a:pPr>
            <a:r>
              <a:rPr lang="en-US" sz="1350" dirty="0">
                <a:solidFill>
                  <a:srgbClr val="14181F"/>
                </a:solidFill>
                <a:latin typeface="Arial" pitchFamily="34" charset="0"/>
                <a:ea typeface="Arial" pitchFamily="34" charset="-122"/>
                <a:cs typeface="Arial" pitchFamily="34" charset="-120"/>
              </a:rPr>
              <a:t>Every ERC-20 balance is a storage slot in the token contract. Per slot, transfers between different holders never collide. Per account, they all collide in one account — the token.</a:t>
            </a:r>
            <a:endParaRPr lang="en-US" sz="1350" dirty="0"/>
          </a:p>
        </p:txBody>
      </p:sp>
      <p:sp>
        <p:nvSpPr>
          <p:cNvPr id="7" name="Text 4"/>
          <p:cNvSpPr txBox="1"/>
          <p:nvPr/>
        </p:nvSpPr>
        <p:spPr>
          <a:xfrm>
            <a:off x="7955280" y="3794760"/>
            <a:ext cx="3657600" cy="365760"/>
          </a:xfrm>
          <a:prstGeom prst="rect">
            <a:avLst/>
          </a:prstGeom>
          <a:noFill/>
          <a:ln/>
        </p:spPr>
        <p:txBody>
          <a:bodyPr wrap="square" lIns="0" tIns="0" rIns="0" bIns="0" rtlCol="0" anchor="t"/>
          <a:lstStyle/>
          <a:p>
            <a:pPr algn="l" indent="0" marL="0">
              <a:spcAft>
                <a:spcPts val="600"/>
              </a:spcAft>
              <a:buNone/>
            </a:pPr>
            <a:r>
              <a:rPr lang="en-US" sz="1500" b="1" dirty="0">
                <a:solidFill>
                  <a:srgbClr val="14181F"/>
                </a:solidFill>
                <a:latin typeface="Arial" pitchFamily="34" charset="0"/>
                <a:ea typeface="Arial" pitchFamily="34" charset="-122"/>
                <a:cs typeface="Arial" pitchFamily="34" charset="-120"/>
              </a:rPr>
              <a:t>So what</a:t>
            </a:r>
            <a:endParaRPr lang="en-US" sz="1500" dirty="0"/>
          </a:p>
        </p:txBody>
      </p:sp>
      <p:sp>
        <p:nvSpPr>
          <p:cNvPr id="8" name="Text 5"/>
          <p:cNvSpPr txBox="1"/>
          <p:nvPr/>
        </p:nvSpPr>
        <p:spPr>
          <a:xfrm>
            <a:off x="7955280" y="4206240"/>
            <a:ext cx="3657600" cy="1828800"/>
          </a:xfrm>
          <a:prstGeom prst="rect">
            <a:avLst/>
          </a:prstGeom>
          <a:noFill/>
          <a:ln/>
        </p:spPr>
        <p:txBody>
          <a:bodyPr wrap="square" lIns="0" tIns="0" rIns="0" bIns="0" rtlCol="0" anchor="t"/>
          <a:lstStyle/>
          <a:p>
            <a:pPr algn="l" indent="0" marL="0">
              <a:spcAft>
                <a:spcPts val="600"/>
              </a:spcAft>
              <a:buNone/>
            </a:pPr>
            <a:r>
              <a:rPr lang="en-US" sz="1350" dirty="0">
                <a:solidFill>
                  <a:srgbClr val="14181F"/>
                </a:solidFill>
                <a:latin typeface="Arial" pitchFamily="34" charset="0"/>
                <a:ea typeface="Arial" pitchFamily="34" charset="-122"/>
                <a:cs typeface="Arial" pitchFamily="34" charset="-120"/>
              </a:rPr>
              <a:t>An access-list design is only as good as its granularity. EIP-7928 lists storage keys; an account-level list would not work for contracts. Plain ETH transfers — accounts without storage — are identical under both, as they should be.</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EB6834"/>
                </a:solidFill>
                <a:latin typeface="Arial" pitchFamily="34" charset="0"/>
                <a:ea typeface="Arial" pitchFamily="34" charset="-122"/>
                <a:cs typeface="Arial" pitchFamily="34" charset="-120"/>
              </a:rPr>
              <a:t>THE ANSWER</a:t>
            </a:r>
            <a:endParaRPr lang="en-US" sz="1100" dirty="0"/>
          </a:p>
        </p:txBody>
      </p:sp>
      <p:sp>
        <p:nvSpPr>
          <p:cNvPr id="3" name="Text 1"/>
          <p:cNvSpPr txBox="1"/>
          <p:nvPr/>
        </p:nvSpPr>
        <p:spPr>
          <a:xfrm>
            <a:off x="548640" y="411480"/>
            <a:ext cx="11094415" cy="822960"/>
          </a:xfrm>
          <a:prstGeom prst="rect">
            <a:avLst/>
          </a:prstGeom>
          <a:noFill/>
          <a:ln/>
        </p:spPr>
        <p:txBody>
          <a:bodyPr wrap="square" lIns="0" tIns="0" rIns="0" bIns="0" rtlCol="0" anchor="t"/>
          <a:lstStyle/>
          <a:p>
            <a:pPr indent="0" marL="0">
              <a:buNone/>
            </a:pPr>
            <a:r>
              <a:rPr lang="en-US" sz="2800" b="1" dirty="0">
                <a:solidFill>
                  <a:srgbClr val="14181F"/>
                </a:solidFill>
                <a:latin typeface="Arial" pitchFamily="34" charset="0"/>
                <a:ea typeface="Arial" pitchFamily="34" charset="-122"/>
                <a:cs typeface="Arial" pitchFamily="34" charset="-120"/>
              </a:rPr>
              <a:t>Parallel execution pays only when all three hold</a:t>
            </a:r>
            <a:endParaRPr lang="en-US" sz="2800" dirty="0"/>
          </a:p>
        </p:txBody>
      </p:sp>
      <p:pic>
        <p:nvPicPr>
          <p:cNvPr id="4" name="Image 0" descr="/Users/franz/Desktop/SC6109/docs/figures/slide_answer_bars.png">    </p:cNvPr>
          <p:cNvPicPr>
            <a:picLocks noChangeAspect="1"/>
          </p:cNvPicPr>
          <p:nvPr/>
        </p:nvPicPr>
        <p:blipFill>
          <a:blip r:embed="rId1"/>
          <a:stretch>
            <a:fillRect/>
          </a:stretch>
        </p:blipFill>
        <p:spPr>
          <a:xfrm>
            <a:off x="548640" y="1417320"/>
            <a:ext cx="6035040" cy="4613945"/>
          </a:xfrm>
          <a:prstGeom prst="rect">
            <a:avLst/>
          </a:prstGeom>
        </p:spPr>
      </p:pic>
      <p:sp>
        <p:nvSpPr>
          <p:cNvPr id="5" name="Shape 2"/>
          <p:cNvSpPr/>
          <p:nvPr/>
        </p:nvSpPr>
        <p:spPr>
          <a:xfrm>
            <a:off x="7040880" y="1554480"/>
            <a:ext cx="310896" cy="310896"/>
          </a:xfrm>
          <a:prstGeom prst="roundRect">
            <a:avLst>
              <a:gd name="adj" fmla="val 50000"/>
            </a:avLst>
          </a:prstGeom>
          <a:solidFill>
            <a:srgbClr val="EB6834"/>
          </a:solidFill>
          <a:ln w="12700">
            <a:solidFill>
              <a:srgbClr val="EB6834"/>
            </a:solidFill>
            <a:prstDash val="solid"/>
          </a:ln>
        </p:spPr>
      </p:sp>
      <p:sp>
        <p:nvSpPr>
          <p:cNvPr id="6" name="Text 3"/>
          <p:cNvSpPr txBox="1"/>
          <p:nvPr/>
        </p:nvSpPr>
        <p:spPr>
          <a:xfrm>
            <a:off x="7040880" y="15544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7" name="Text 4"/>
          <p:cNvSpPr txBox="1"/>
          <p:nvPr/>
        </p:nvSpPr>
        <p:spPr>
          <a:xfrm>
            <a:off x="7543800" y="1508760"/>
            <a:ext cx="4114800" cy="411480"/>
          </a:xfrm>
          <a:prstGeom prst="rect">
            <a:avLst/>
          </a:prstGeom>
          <a:noFill/>
          <a:ln/>
        </p:spPr>
        <p:txBody>
          <a:bodyPr wrap="square" lIns="0" tIns="0" rIns="0" bIns="0" rtlCol="0" anchor="ctr"/>
          <a:lstStyle/>
          <a:p>
            <a:pPr indent="0" marL="0">
              <a:buNone/>
            </a:pPr>
            <a:r>
              <a:rPr lang="en-US" sz="1700" b="1" dirty="0">
                <a:solidFill>
                  <a:srgbClr val="14181F"/>
                </a:solidFill>
                <a:latin typeface="Arial" pitchFamily="34" charset="0"/>
                <a:ea typeface="Arial" pitchFamily="34" charset="-122"/>
                <a:cs typeface="Arial" pitchFamily="34" charset="-120"/>
              </a:rPr>
              <a:t>Short dependency chains</a:t>
            </a:r>
            <a:endParaRPr lang="en-US" sz="1700" dirty="0"/>
          </a:p>
        </p:txBody>
      </p:sp>
      <p:sp>
        <p:nvSpPr>
          <p:cNvPr id="8" name="Text 5"/>
          <p:cNvSpPr txBox="1"/>
          <p:nvPr/>
        </p:nvSpPr>
        <p:spPr>
          <a:xfrm>
            <a:off x="7543800" y="1965960"/>
            <a:ext cx="4114800" cy="914400"/>
          </a:xfrm>
          <a:prstGeom prst="rect">
            <a:avLst/>
          </a:prstGeom>
          <a:noFill/>
          <a:ln/>
        </p:spPr>
        <p:txBody>
          <a:bodyPr wrap="square" lIns="0" tIns="0" rIns="0" bIns="0" rtlCol="0" anchor="t"/>
          <a:lstStyle/>
          <a:p>
            <a:pPr algn="l" indent="0" marL="0">
              <a:spcAft>
                <a:spcPts val="600"/>
              </a:spcAft>
              <a:buNone/>
            </a:pPr>
            <a:r>
              <a:rPr lang="en-US" sz="1350" dirty="0">
                <a:solidFill>
                  <a:srgbClr val="5A6272"/>
                </a:solidFill>
                <a:latin typeface="Arial" pitchFamily="34" charset="0"/>
                <a:ea typeface="Arial" pitchFamily="34" charset="-122"/>
                <a:cs typeface="Arial" pitchFamily="34" charset="-120"/>
              </a:rPr>
              <a:t>A hot contract is a ceiling no engine removes — only the application can shard it.</a:t>
            </a:r>
            <a:endParaRPr lang="en-US" sz="1350" dirty="0"/>
          </a:p>
        </p:txBody>
      </p:sp>
      <p:sp>
        <p:nvSpPr>
          <p:cNvPr id="9" name="Shape 6"/>
          <p:cNvSpPr/>
          <p:nvPr/>
        </p:nvSpPr>
        <p:spPr>
          <a:xfrm>
            <a:off x="7040880" y="3017520"/>
            <a:ext cx="310896" cy="310896"/>
          </a:xfrm>
          <a:prstGeom prst="roundRect">
            <a:avLst>
              <a:gd name="adj" fmla="val 50000"/>
            </a:avLst>
          </a:prstGeom>
          <a:solidFill>
            <a:srgbClr val="EB6834"/>
          </a:solidFill>
          <a:ln w="12700">
            <a:solidFill>
              <a:srgbClr val="EB6834"/>
            </a:solidFill>
            <a:prstDash val="solid"/>
          </a:ln>
        </p:spPr>
      </p:sp>
      <p:sp>
        <p:nvSpPr>
          <p:cNvPr id="10" name="Text 7"/>
          <p:cNvSpPr txBox="1"/>
          <p:nvPr/>
        </p:nvSpPr>
        <p:spPr>
          <a:xfrm>
            <a:off x="7040880" y="30175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1" name="Text 8"/>
          <p:cNvSpPr txBox="1"/>
          <p:nvPr/>
        </p:nvSpPr>
        <p:spPr>
          <a:xfrm>
            <a:off x="7543800" y="2971800"/>
            <a:ext cx="4114800" cy="411480"/>
          </a:xfrm>
          <a:prstGeom prst="rect">
            <a:avLst/>
          </a:prstGeom>
          <a:noFill/>
          <a:ln/>
        </p:spPr>
        <p:txBody>
          <a:bodyPr wrap="square" lIns="0" tIns="0" rIns="0" bIns="0" rtlCol="0" anchor="ctr"/>
          <a:lstStyle/>
          <a:p>
            <a:pPr indent="0" marL="0">
              <a:buNone/>
            </a:pPr>
            <a:r>
              <a:rPr lang="en-US" sz="1700" b="1" dirty="0">
                <a:solidFill>
                  <a:srgbClr val="14181F"/>
                </a:solidFill>
                <a:latin typeface="Arial" pitchFamily="34" charset="0"/>
                <a:ea typeface="Arial" pitchFamily="34" charset="-122"/>
                <a:cs typeface="Arial" pitchFamily="34" charset="-120"/>
              </a:rPr>
              <a:t>Real work per transaction</a:t>
            </a:r>
            <a:endParaRPr lang="en-US" sz="1700" dirty="0"/>
          </a:p>
        </p:txBody>
      </p:sp>
      <p:sp>
        <p:nvSpPr>
          <p:cNvPr id="12" name="Text 9"/>
          <p:cNvSpPr txBox="1"/>
          <p:nvPr/>
        </p:nvSpPr>
        <p:spPr>
          <a:xfrm>
            <a:off x="7543800" y="3429000"/>
            <a:ext cx="4114800" cy="914400"/>
          </a:xfrm>
          <a:prstGeom prst="rect">
            <a:avLst/>
          </a:prstGeom>
          <a:noFill/>
          <a:ln/>
        </p:spPr>
        <p:txBody>
          <a:bodyPr wrap="square" lIns="0" tIns="0" rIns="0" bIns="0" rtlCol="0" anchor="t"/>
          <a:lstStyle/>
          <a:p>
            <a:pPr algn="l" indent="0" marL="0">
              <a:spcAft>
                <a:spcPts val="600"/>
              </a:spcAft>
              <a:buNone/>
            </a:pPr>
            <a:r>
              <a:rPr lang="en-US" sz="1350" dirty="0">
                <a:solidFill>
                  <a:srgbClr val="5A6272"/>
                </a:solidFill>
                <a:latin typeface="Arial" pitchFamily="34" charset="0"/>
                <a:ea typeface="Arial" pitchFamily="34" charset="-122"/>
                <a:cs typeface="Arial" pitchFamily="34" charset="-120"/>
              </a:rPr>
              <a:t>Coordination costs a roughly fixed amount; light transactions never earn it back.</a:t>
            </a:r>
            <a:endParaRPr lang="en-US" sz="1350" dirty="0"/>
          </a:p>
        </p:txBody>
      </p:sp>
      <p:sp>
        <p:nvSpPr>
          <p:cNvPr id="13" name="Shape 10"/>
          <p:cNvSpPr/>
          <p:nvPr/>
        </p:nvSpPr>
        <p:spPr>
          <a:xfrm>
            <a:off x="7040880" y="4480560"/>
            <a:ext cx="310896" cy="310896"/>
          </a:xfrm>
          <a:prstGeom prst="roundRect">
            <a:avLst>
              <a:gd name="adj" fmla="val 50000"/>
            </a:avLst>
          </a:prstGeom>
          <a:solidFill>
            <a:srgbClr val="EB6834"/>
          </a:solidFill>
          <a:ln w="12700">
            <a:solidFill>
              <a:srgbClr val="EB6834"/>
            </a:solidFill>
            <a:prstDash val="solid"/>
          </a:ln>
        </p:spPr>
      </p:sp>
      <p:sp>
        <p:nvSpPr>
          <p:cNvPr id="14" name="Text 11"/>
          <p:cNvSpPr txBox="1"/>
          <p:nvPr/>
        </p:nvSpPr>
        <p:spPr>
          <a:xfrm>
            <a:off x="7040880" y="44805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5" name="Text 12"/>
          <p:cNvSpPr txBox="1"/>
          <p:nvPr/>
        </p:nvSpPr>
        <p:spPr>
          <a:xfrm>
            <a:off x="7543800" y="4434840"/>
            <a:ext cx="4114800" cy="411480"/>
          </a:xfrm>
          <a:prstGeom prst="rect">
            <a:avLst/>
          </a:prstGeom>
          <a:noFill/>
          <a:ln/>
        </p:spPr>
        <p:txBody>
          <a:bodyPr wrap="square" lIns="0" tIns="0" rIns="0" bIns="0" rtlCol="0" anchor="ctr"/>
          <a:lstStyle/>
          <a:p>
            <a:pPr indent="0" marL="0">
              <a:buNone/>
            </a:pPr>
            <a:r>
              <a:rPr lang="en-US" sz="1700" b="1" dirty="0">
                <a:solidFill>
                  <a:srgbClr val="14181F"/>
                </a:solidFill>
                <a:latin typeface="Arial" pitchFamily="34" charset="0"/>
                <a:ea typeface="Arial" pitchFamily="34" charset="-122"/>
                <a:cs typeface="Arial" pitchFamily="34" charset="-120"/>
              </a:rPr>
              <a:t>Fine-grained conflicts, real cores</a:t>
            </a:r>
            <a:endParaRPr lang="en-US" sz="1700" dirty="0"/>
          </a:p>
        </p:txBody>
      </p:sp>
      <p:sp>
        <p:nvSpPr>
          <p:cNvPr id="16" name="Text 13"/>
          <p:cNvSpPr txBox="1"/>
          <p:nvPr/>
        </p:nvSpPr>
        <p:spPr>
          <a:xfrm>
            <a:off x="7543800" y="4892040"/>
            <a:ext cx="4114800" cy="914400"/>
          </a:xfrm>
          <a:prstGeom prst="rect">
            <a:avLst/>
          </a:prstGeom>
          <a:noFill/>
          <a:ln/>
        </p:spPr>
        <p:txBody>
          <a:bodyPr wrap="square" lIns="0" tIns="0" rIns="0" bIns="0" rtlCol="0" anchor="t"/>
          <a:lstStyle/>
          <a:p>
            <a:pPr algn="l" indent="0" marL="0">
              <a:spcAft>
                <a:spcPts val="600"/>
              </a:spcAft>
              <a:buNone/>
            </a:pPr>
            <a:r>
              <a:rPr lang="en-US" sz="1350" dirty="0">
                <a:solidFill>
                  <a:srgbClr val="5A6272"/>
                </a:solidFill>
                <a:latin typeface="Arial" pitchFamily="34" charset="0"/>
                <a:ea typeface="Arial" pitchFamily="34" charset="-122"/>
                <a:cs typeface="Arial" pitchFamily="34" charset="-120"/>
              </a:rPr>
              <a:t>Per-slot detection, and no more threads than performance cores for light work.</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EB6834"/>
                </a:solidFill>
                <a:latin typeface="Arial" pitchFamily="34" charset="0"/>
                <a:ea typeface="Arial" pitchFamily="34" charset="-122"/>
                <a:cs typeface="Arial" pitchFamily="34" charset="-120"/>
              </a:rPr>
              <a:t>IN CONTEXT</a:t>
            </a:r>
            <a:endParaRPr lang="en-US" sz="1100" dirty="0"/>
          </a:p>
        </p:txBody>
      </p:sp>
      <p:sp>
        <p:nvSpPr>
          <p:cNvPr id="3" name="Text 1"/>
          <p:cNvSpPr txBox="1"/>
          <p:nvPr/>
        </p:nvSpPr>
        <p:spPr>
          <a:xfrm>
            <a:off x="548640" y="411480"/>
            <a:ext cx="11094415" cy="822960"/>
          </a:xfrm>
          <a:prstGeom prst="rect">
            <a:avLst/>
          </a:prstGeom>
          <a:noFill/>
          <a:ln/>
        </p:spPr>
        <p:txBody>
          <a:bodyPr wrap="square" lIns="0" tIns="0" rIns="0" bIns="0" rtlCol="0" anchor="t"/>
          <a:lstStyle/>
          <a:p>
            <a:pPr indent="0" marL="0">
              <a:buNone/>
            </a:pPr>
            <a:r>
              <a:rPr lang="en-US" sz="2800" b="1" dirty="0">
                <a:solidFill>
                  <a:srgbClr val="14181F"/>
                </a:solidFill>
                <a:latin typeface="Arial" pitchFamily="34" charset="0"/>
                <a:ea typeface="Arial" pitchFamily="34" charset="-122"/>
                <a:cs typeface="Arial" pitchFamily="34" charset="-120"/>
              </a:rPr>
              <a:t>How this maps onto production systems</a:t>
            </a:r>
            <a:endParaRPr lang="en-US" sz="2800" dirty="0"/>
          </a:p>
        </p:txBody>
      </p:sp>
      <p:sp>
        <p:nvSpPr>
          <p:cNvPr id="4" name="Shape 2"/>
          <p:cNvSpPr/>
          <p:nvPr/>
        </p:nvSpPr>
        <p:spPr>
          <a:xfrm>
            <a:off x="548640" y="1508760"/>
            <a:ext cx="11094415" cy="1005840"/>
          </a:xfrm>
          <a:prstGeom prst="roundRect">
            <a:avLst>
              <a:gd name="adj" fmla="val 10909"/>
            </a:avLst>
          </a:prstGeom>
          <a:solidFill>
            <a:srgbClr val="F3F5F8"/>
          </a:solidFill>
          <a:ln w="12700">
            <a:solidFill>
              <a:srgbClr val="F3F5F8"/>
            </a:solidFill>
            <a:prstDash val="solid"/>
          </a:ln>
        </p:spPr>
      </p:sp>
      <p:sp>
        <p:nvSpPr>
          <p:cNvPr id="5" name="Shape 3"/>
          <p:cNvSpPr/>
          <p:nvPr/>
        </p:nvSpPr>
        <p:spPr>
          <a:xfrm>
            <a:off x="822960" y="1874520"/>
            <a:ext cx="274320" cy="274320"/>
          </a:xfrm>
          <a:prstGeom prst="ellipse">
            <a:avLst/>
          </a:prstGeom>
          <a:solidFill>
            <a:srgbClr val="EB6834"/>
          </a:solidFill>
          <a:ln w="12700">
            <a:solidFill>
              <a:srgbClr val="EB6834"/>
            </a:solidFill>
            <a:prstDash val="solid"/>
          </a:ln>
        </p:spPr>
      </p:sp>
      <p:sp>
        <p:nvSpPr>
          <p:cNvPr id="6" name="Text 4"/>
          <p:cNvSpPr txBox="1"/>
          <p:nvPr/>
        </p:nvSpPr>
        <p:spPr>
          <a:xfrm>
            <a:off x="1325880" y="1508760"/>
            <a:ext cx="2926080" cy="1005840"/>
          </a:xfrm>
          <a:prstGeom prst="rect">
            <a:avLst/>
          </a:prstGeom>
          <a:noFill/>
          <a:ln/>
        </p:spPr>
        <p:txBody>
          <a:bodyPr wrap="square" lIns="0" tIns="0" rIns="0" bIns="0" rtlCol="0" anchor="ctr"/>
          <a:lstStyle/>
          <a:p>
            <a:pPr indent="0" marL="0">
              <a:buNone/>
            </a:pPr>
            <a:r>
              <a:rPr lang="en-US" sz="1700" b="1" dirty="0">
                <a:solidFill>
                  <a:srgbClr val="14181F"/>
                </a:solidFill>
                <a:latin typeface="Arial" pitchFamily="34" charset="0"/>
                <a:ea typeface="Arial" pitchFamily="34" charset="-122"/>
                <a:cs typeface="Arial" pitchFamily="34" charset="-120"/>
              </a:rPr>
              <a:t>Aptos · Block-STM</a:t>
            </a:r>
            <a:endParaRPr lang="en-US" sz="1700" dirty="0"/>
          </a:p>
        </p:txBody>
      </p:sp>
      <p:sp>
        <p:nvSpPr>
          <p:cNvPr id="7" name="Text 5"/>
          <p:cNvSpPr txBox="1"/>
          <p:nvPr/>
        </p:nvSpPr>
        <p:spPr>
          <a:xfrm>
            <a:off x="4297680" y="1581912"/>
            <a:ext cx="7071055" cy="868680"/>
          </a:xfrm>
          <a:prstGeom prst="rect">
            <a:avLst/>
          </a:prstGeom>
          <a:noFill/>
          <a:ln/>
        </p:spPr>
        <p:txBody>
          <a:bodyPr wrap="square" lIns="0" tIns="0" rIns="0" bIns="0" rtlCol="0" anchor="ctr"/>
          <a:lstStyle/>
          <a:p>
            <a:pPr algn="l" indent="0" marL="0">
              <a:spcAft>
                <a:spcPts val="600"/>
              </a:spcAft>
              <a:buNone/>
            </a:pPr>
            <a:r>
              <a:rPr lang="en-US" sz="1350" dirty="0">
                <a:solidFill>
                  <a:srgbClr val="14181F"/>
                </a:solidFill>
                <a:latin typeface="Arial" pitchFamily="34" charset="0"/>
                <a:ea typeface="Arial" pitchFamily="34" charset="-122"/>
                <a:cs typeface="Arial" pitchFamily="34" charset="-120"/>
              </a:rPr>
              <a:t>Our M2b follows the Block-STM paper on EVM bytecode instead of Move, and shows the same shape: large gains at low contention, graceful degradation, no collapse.</a:t>
            </a:r>
            <a:endParaRPr lang="en-US" sz="1350" dirty="0"/>
          </a:p>
        </p:txBody>
      </p:sp>
      <p:sp>
        <p:nvSpPr>
          <p:cNvPr id="8" name="Shape 6"/>
          <p:cNvSpPr/>
          <p:nvPr/>
        </p:nvSpPr>
        <p:spPr>
          <a:xfrm>
            <a:off x="548640" y="2679192"/>
            <a:ext cx="11094415" cy="1005840"/>
          </a:xfrm>
          <a:prstGeom prst="roundRect">
            <a:avLst>
              <a:gd name="adj" fmla="val 10909"/>
            </a:avLst>
          </a:prstGeom>
          <a:solidFill>
            <a:srgbClr val="F3F5F8"/>
          </a:solidFill>
          <a:ln w="12700">
            <a:solidFill>
              <a:srgbClr val="F3F5F8"/>
            </a:solidFill>
            <a:prstDash val="solid"/>
          </a:ln>
        </p:spPr>
      </p:sp>
      <p:sp>
        <p:nvSpPr>
          <p:cNvPr id="9" name="Shape 7"/>
          <p:cNvSpPr/>
          <p:nvPr/>
        </p:nvSpPr>
        <p:spPr>
          <a:xfrm>
            <a:off x="822960" y="3044952"/>
            <a:ext cx="274320" cy="274320"/>
          </a:xfrm>
          <a:prstGeom prst="ellipse">
            <a:avLst/>
          </a:prstGeom>
          <a:solidFill>
            <a:srgbClr val="2A78D6"/>
          </a:solidFill>
          <a:ln w="12700">
            <a:solidFill>
              <a:srgbClr val="2A78D6"/>
            </a:solidFill>
            <a:prstDash val="solid"/>
          </a:ln>
        </p:spPr>
      </p:sp>
      <p:sp>
        <p:nvSpPr>
          <p:cNvPr id="10" name="Text 8"/>
          <p:cNvSpPr txBox="1"/>
          <p:nvPr/>
        </p:nvSpPr>
        <p:spPr>
          <a:xfrm>
            <a:off x="1325880" y="2679192"/>
            <a:ext cx="2926080" cy="1005840"/>
          </a:xfrm>
          <a:prstGeom prst="rect">
            <a:avLst/>
          </a:prstGeom>
          <a:noFill/>
          <a:ln/>
        </p:spPr>
        <p:txBody>
          <a:bodyPr wrap="square" lIns="0" tIns="0" rIns="0" bIns="0" rtlCol="0" anchor="ctr"/>
          <a:lstStyle/>
          <a:p>
            <a:pPr indent="0" marL="0">
              <a:buNone/>
            </a:pPr>
            <a:r>
              <a:rPr lang="en-US" sz="1700" b="1" dirty="0">
                <a:solidFill>
                  <a:srgbClr val="14181F"/>
                </a:solidFill>
                <a:latin typeface="Arial" pitchFamily="34" charset="0"/>
                <a:ea typeface="Arial" pitchFamily="34" charset="-122"/>
                <a:cs typeface="Arial" pitchFamily="34" charset="-120"/>
              </a:rPr>
              <a:t>Solana · Sealevel</a:t>
            </a:r>
            <a:endParaRPr lang="en-US" sz="1700" dirty="0"/>
          </a:p>
        </p:txBody>
      </p:sp>
      <p:sp>
        <p:nvSpPr>
          <p:cNvPr id="11" name="Text 9"/>
          <p:cNvSpPr txBox="1"/>
          <p:nvPr/>
        </p:nvSpPr>
        <p:spPr>
          <a:xfrm>
            <a:off x="4297680" y="2752344"/>
            <a:ext cx="7071055" cy="868680"/>
          </a:xfrm>
          <a:prstGeom prst="rect">
            <a:avLst/>
          </a:prstGeom>
          <a:noFill/>
          <a:ln/>
        </p:spPr>
        <p:txBody>
          <a:bodyPr wrap="square" lIns="0" tIns="0" rIns="0" bIns="0" rtlCol="0" anchor="ctr"/>
          <a:lstStyle/>
          <a:p>
            <a:pPr algn="l" indent="0" marL="0">
              <a:spcAft>
                <a:spcPts val="600"/>
              </a:spcAft>
              <a:buNone/>
            </a:pPr>
            <a:r>
              <a:rPr lang="en-US" sz="1350" dirty="0">
                <a:solidFill>
                  <a:srgbClr val="14181F"/>
                </a:solidFill>
                <a:latin typeface="Arial" pitchFamily="34" charset="0"/>
                <a:ea typeface="Arial" pitchFamily="34" charset="-122"/>
                <a:cs typeface="Arial" pitchFamily="34" charset="-120"/>
              </a:rPr>
              <a:t>Transactions declare the accounts they touch. On the EVM that is account-level detection — which our ERC-20 result shows discards most of the parallelism.</a:t>
            </a:r>
            <a:endParaRPr lang="en-US" sz="1350" dirty="0"/>
          </a:p>
        </p:txBody>
      </p:sp>
      <p:sp>
        <p:nvSpPr>
          <p:cNvPr id="12" name="Shape 10"/>
          <p:cNvSpPr/>
          <p:nvPr/>
        </p:nvSpPr>
        <p:spPr>
          <a:xfrm>
            <a:off x="548640" y="3849624"/>
            <a:ext cx="11094415" cy="1005840"/>
          </a:xfrm>
          <a:prstGeom prst="roundRect">
            <a:avLst>
              <a:gd name="adj" fmla="val 10909"/>
            </a:avLst>
          </a:prstGeom>
          <a:solidFill>
            <a:srgbClr val="F3F5F8"/>
          </a:solidFill>
          <a:ln w="12700">
            <a:solidFill>
              <a:srgbClr val="F3F5F8"/>
            </a:solidFill>
            <a:prstDash val="solid"/>
          </a:ln>
        </p:spPr>
      </p:sp>
      <p:sp>
        <p:nvSpPr>
          <p:cNvPr id="13" name="Shape 11"/>
          <p:cNvSpPr/>
          <p:nvPr/>
        </p:nvSpPr>
        <p:spPr>
          <a:xfrm>
            <a:off x="822960" y="4215384"/>
            <a:ext cx="274320" cy="274320"/>
          </a:xfrm>
          <a:prstGeom prst="ellipse">
            <a:avLst/>
          </a:prstGeom>
          <a:solidFill>
            <a:srgbClr val="1BAF7A"/>
          </a:solidFill>
          <a:ln w="12700">
            <a:solidFill>
              <a:srgbClr val="1BAF7A"/>
            </a:solidFill>
            <a:prstDash val="solid"/>
          </a:ln>
        </p:spPr>
      </p:sp>
      <p:sp>
        <p:nvSpPr>
          <p:cNvPr id="14" name="Text 12"/>
          <p:cNvSpPr txBox="1"/>
          <p:nvPr/>
        </p:nvSpPr>
        <p:spPr>
          <a:xfrm>
            <a:off x="1325880" y="3849624"/>
            <a:ext cx="2926080" cy="1005840"/>
          </a:xfrm>
          <a:prstGeom prst="rect">
            <a:avLst/>
          </a:prstGeom>
          <a:noFill/>
          <a:ln/>
        </p:spPr>
        <p:txBody>
          <a:bodyPr wrap="square" lIns="0" tIns="0" rIns="0" bIns="0" rtlCol="0" anchor="ctr"/>
          <a:lstStyle/>
          <a:p>
            <a:pPr indent="0" marL="0">
              <a:buNone/>
            </a:pPr>
            <a:r>
              <a:rPr lang="en-US" sz="1700" b="1" dirty="0">
                <a:solidFill>
                  <a:srgbClr val="14181F"/>
                </a:solidFill>
                <a:latin typeface="Arial" pitchFamily="34" charset="0"/>
                <a:ea typeface="Arial" pitchFamily="34" charset="-122"/>
                <a:cs typeface="Arial" pitchFamily="34" charset="-120"/>
              </a:rPr>
              <a:t>Ethereum · EIP-7928</a:t>
            </a:r>
            <a:endParaRPr lang="en-US" sz="1700" dirty="0"/>
          </a:p>
        </p:txBody>
      </p:sp>
      <p:sp>
        <p:nvSpPr>
          <p:cNvPr id="15" name="Text 13"/>
          <p:cNvSpPr txBox="1"/>
          <p:nvPr/>
        </p:nvSpPr>
        <p:spPr>
          <a:xfrm>
            <a:off x="4297680" y="3922776"/>
            <a:ext cx="7071055" cy="868680"/>
          </a:xfrm>
          <a:prstGeom prst="rect">
            <a:avLst/>
          </a:prstGeom>
          <a:noFill/>
          <a:ln/>
        </p:spPr>
        <p:txBody>
          <a:bodyPr wrap="square" lIns="0" tIns="0" rIns="0" bIns="0" rtlCol="0" anchor="ctr"/>
          <a:lstStyle/>
          <a:p>
            <a:pPr algn="l" indent="0" marL="0">
              <a:spcAft>
                <a:spcPts val="600"/>
              </a:spcAft>
              <a:buNone/>
            </a:pPr>
            <a:r>
              <a:rPr lang="en-US" sz="1350" dirty="0">
                <a:solidFill>
                  <a:srgbClr val="14181F"/>
                </a:solidFill>
                <a:latin typeface="Arial" pitchFamily="34" charset="0"/>
                <a:ea typeface="Arial" pitchFamily="34" charset="-122"/>
                <a:cs typeface="Arial" pitchFamily="34" charset="-120"/>
              </a:rPr>
              <a:t>Builders publish block access lists with storage keys, so validators can schedule statically. Our M3 is that validator; its list costs a full execution, paid once by the builder.</a:t>
            </a:r>
            <a:endParaRPr lang="en-US" sz="1350" dirty="0"/>
          </a:p>
        </p:txBody>
      </p:sp>
      <p:sp>
        <p:nvSpPr>
          <p:cNvPr id="16" name="Shape 14"/>
          <p:cNvSpPr/>
          <p:nvPr/>
        </p:nvSpPr>
        <p:spPr>
          <a:xfrm>
            <a:off x="548640" y="5020056"/>
            <a:ext cx="11094415" cy="1005840"/>
          </a:xfrm>
          <a:prstGeom prst="roundRect">
            <a:avLst>
              <a:gd name="adj" fmla="val 10909"/>
            </a:avLst>
          </a:prstGeom>
          <a:solidFill>
            <a:srgbClr val="F3F5F8"/>
          </a:solidFill>
          <a:ln w="12700">
            <a:solidFill>
              <a:srgbClr val="F3F5F8"/>
            </a:solidFill>
            <a:prstDash val="solid"/>
          </a:ln>
        </p:spPr>
      </p:sp>
      <p:sp>
        <p:nvSpPr>
          <p:cNvPr id="17" name="Shape 15"/>
          <p:cNvSpPr/>
          <p:nvPr/>
        </p:nvSpPr>
        <p:spPr>
          <a:xfrm>
            <a:off x="822960" y="5385816"/>
            <a:ext cx="274320" cy="274320"/>
          </a:xfrm>
          <a:prstGeom prst="ellipse">
            <a:avLst/>
          </a:prstGeom>
          <a:solidFill>
            <a:srgbClr val="5A6272"/>
          </a:solidFill>
          <a:ln w="12700">
            <a:solidFill>
              <a:srgbClr val="5A6272"/>
            </a:solidFill>
            <a:prstDash val="solid"/>
          </a:ln>
        </p:spPr>
      </p:sp>
      <p:sp>
        <p:nvSpPr>
          <p:cNvPr id="18" name="Text 16"/>
          <p:cNvSpPr txBox="1"/>
          <p:nvPr/>
        </p:nvSpPr>
        <p:spPr>
          <a:xfrm>
            <a:off x="1325880" y="5020056"/>
            <a:ext cx="2926080" cy="1005840"/>
          </a:xfrm>
          <a:prstGeom prst="rect">
            <a:avLst/>
          </a:prstGeom>
          <a:noFill/>
          <a:ln/>
        </p:spPr>
        <p:txBody>
          <a:bodyPr wrap="square" lIns="0" tIns="0" rIns="0" bIns="0" rtlCol="0" anchor="ctr"/>
          <a:lstStyle/>
          <a:p>
            <a:pPr indent="0" marL="0">
              <a:buNone/>
            </a:pPr>
            <a:r>
              <a:rPr lang="en-US" sz="1700" b="1" dirty="0">
                <a:solidFill>
                  <a:srgbClr val="14181F"/>
                </a:solidFill>
                <a:latin typeface="Arial" pitchFamily="34" charset="0"/>
                <a:ea typeface="Arial" pitchFamily="34" charset="-122"/>
                <a:cs typeface="Arial" pitchFamily="34" charset="-120"/>
              </a:rPr>
              <a:t>ERC-4337 bundles</a:t>
            </a:r>
            <a:endParaRPr lang="en-US" sz="1700" dirty="0"/>
          </a:p>
        </p:txBody>
      </p:sp>
      <p:sp>
        <p:nvSpPr>
          <p:cNvPr id="19" name="Text 17"/>
          <p:cNvSpPr txBox="1"/>
          <p:nvPr/>
        </p:nvSpPr>
        <p:spPr>
          <a:xfrm>
            <a:off x="4297680" y="5093208"/>
            <a:ext cx="7071055" cy="868680"/>
          </a:xfrm>
          <a:prstGeom prst="rect">
            <a:avLst/>
          </a:prstGeom>
          <a:noFill/>
          <a:ln/>
        </p:spPr>
        <p:txBody>
          <a:bodyPr wrap="square" lIns="0" tIns="0" rIns="0" bIns="0" rtlCol="0" anchor="ctr"/>
          <a:lstStyle/>
          <a:p>
            <a:pPr algn="l" indent="0" marL="0">
              <a:spcAft>
                <a:spcPts val="600"/>
              </a:spcAft>
              <a:buNone/>
            </a:pPr>
            <a:r>
              <a:rPr lang="en-US" sz="1350" dirty="0">
                <a:solidFill>
                  <a:srgbClr val="14181F"/>
                </a:solidFill>
                <a:latin typeface="Arial" pitchFamily="34" charset="0"/>
                <a:ea typeface="Arial" pitchFamily="34" charset="-122"/>
                <a:cs typeface="Arial" pitchFamily="34" charset="-120"/>
              </a:rPr>
              <a:t>Many users' operations in one transaction through one EntryPoint — concentrating state, which is the unfavourable case for parallel execution.</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B26"/>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200" kern="0" dirty="0">
                <a:solidFill>
                  <a:srgbClr val="EB6834"/>
                </a:solidFill>
                <a:latin typeface="Arial" pitchFamily="34" charset="0"/>
                <a:ea typeface="Arial" pitchFamily="34" charset="-122"/>
                <a:cs typeface="Arial" pitchFamily="34" charset="-120"/>
              </a:rPr>
              <a:t>LIMITS AND NEXT STEPS</a:t>
            </a:r>
            <a:endParaRPr lang="en-US" sz="1100" dirty="0"/>
          </a:p>
        </p:txBody>
      </p:sp>
      <p:sp>
        <p:nvSpPr>
          <p:cNvPr id="3" name="Text 1"/>
          <p:cNvSpPr txBox="1"/>
          <p:nvPr/>
        </p:nvSpPr>
        <p:spPr>
          <a:xfrm>
            <a:off x="548640" y="411480"/>
            <a:ext cx="11094415" cy="82296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What we would do next</a:t>
            </a:r>
            <a:endParaRPr lang="en-US" sz="2800" dirty="0"/>
          </a:p>
        </p:txBody>
      </p:sp>
      <p:sp>
        <p:nvSpPr>
          <p:cNvPr id="4" name="Shape 2"/>
          <p:cNvSpPr/>
          <p:nvPr/>
        </p:nvSpPr>
        <p:spPr>
          <a:xfrm>
            <a:off x="548640" y="1645920"/>
            <a:ext cx="3520440" cy="2240280"/>
          </a:xfrm>
          <a:prstGeom prst="roundRect">
            <a:avLst>
              <a:gd name="adj" fmla="val 4898"/>
            </a:avLst>
          </a:prstGeom>
          <a:solidFill>
            <a:srgbClr val="232A38"/>
          </a:solidFill>
          <a:ln w="12700">
            <a:solidFill>
              <a:srgbClr val="232A38"/>
            </a:solidFill>
            <a:prstDash val="solid"/>
          </a:ln>
        </p:spPr>
      </p:sp>
      <p:sp>
        <p:nvSpPr>
          <p:cNvPr id="5" name="Text 3"/>
          <p:cNvSpPr txBox="1"/>
          <p:nvPr/>
        </p:nvSpPr>
        <p:spPr>
          <a:xfrm>
            <a:off x="822960" y="1874520"/>
            <a:ext cx="3017520" cy="45720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Replay real mainnet blocks</a:t>
            </a:r>
            <a:endParaRPr lang="en-US" sz="1800" dirty="0"/>
          </a:p>
        </p:txBody>
      </p:sp>
      <p:sp>
        <p:nvSpPr>
          <p:cNvPr id="6" name="Text 4"/>
          <p:cNvSpPr txBox="1"/>
          <p:nvPr/>
        </p:nvSpPr>
        <p:spPr>
          <a:xfrm>
            <a:off x="822960" y="2377440"/>
            <a:ext cx="3017520" cy="1371600"/>
          </a:xfrm>
          <a:prstGeom prst="rect">
            <a:avLst/>
          </a:prstGeom>
          <a:noFill/>
          <a:ln/>
        </p:spPr>
        <p:txBody>
          <a:bodyPr wrap="square" lIns="0" tIns="0" rIns="0" bIns="0" rtlCol="0" anchor="t"/>
          <a:lstStyle/>
          <a:p>
            <a:pPr algn="l" indent="0" marL="0">
              <a:spcAft>
                <a:spcPts val="600"/>
              </a:spcAft>
              <a:buNone/>
            </a:pPr>
            <a:r>
              <a:rPr lang="en-US" sz="1350" dirty="0">
                <a:solidFill>
                  <a:srgbClr val="AEB6C8"/>
                </a:solidFill>
                <a:latin typeface="Arial" pitchFamily="34" charset="0"/>
                <a:ea typeface="Arial" pitchFamily="34" charset="-122"/>
                <a:cs typeface="Arial" pitchFamily="34" charset="-120"/>
              </a:rPr>
              <a:t>Our workloads span the conflict and work axes by design; real traffic would show where chains actually sit on them.</a:t>
            </a:r>
            <a:endParaRPr lang="en-US" sz="1350" dirty="0"/>
          </a:p>
        </p:txBody>
      </p:sp>
      <p:sp>
        <p:nvSpPr>
          <p:cNvPr id="7" name="Shape 5"/>
          <p:cNvSpPr/>
          <p:nvPr/>
        </p:nvSpPr>
        <p:spPr>
          <a:xfrm>
            <a:off x="4297680" y="1645920"/>
            <a:ext cx="3520440" cy="2240280"/>
          </a:xfrm>
          <a:prstGeom prst="roundRect">
            <a:avLst>
              <a:gd name="adj" fmla="val 4898"/>
            </a:avLst>
          </a:prstGeom>
          <a:solidFill>
            <a:srgbClr val="232A38"/>
          </a:solidFill>
          <a:ln w="12700">
            <a:solidFill>
              <a:srgbClr val="232A38"/>
            </a:solidFill>
            <a:prstDash val="solid"/>
          </a:ln>
        </p:spPr>
      </p:sp>
      <p:sp>
        <p:nvSpPr>
          <p:cNvPr id="8" name="Text 6"/>
          <p:cNvSpPr txBox="1"/>
          <p:nvPr/>
        </p:nvSpPr>
        <p:spPr>
          <a:xfrm>
            <a:off x="4572000" y="1874520"/>
            <a:ext cx="3017520" cy="45720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A homogeneous machine</a:t>
            </a:r>
            <a:endParaRPr lang="en-US" sz="1800" dirty="0"/>
          </a:p>
        </p:txBody>
      </p:sp>
      <p:sp>
        <p:nvSpPr>
          <p:cNvPr id="9" name="Text 7"/>
          <p:cNvSpPr txBox="1"/>
          <p:nvPr/>
        </p:nvSpPr>
        <p:spPr>
          <a:xfrm>
            <a:off x="4572000" y="2377440"/>
            <a:ext cx="3017520" cy="1371600"/>
          </a:xfrm>
          <a:prstGeom prst="rect">
            <a:avLst/>
          </a:prstGeom>
          <a:noFill/>
          <a:ln/>
        </p:spPr>
        <p:txBody>
          <a:bodyPr wrap="square" lIns="0" tIns="0" rIns="0" bIns="0" rtlCol="0" anchor="t"/>
          <a:lstStyle/>
          <a:p>
            <a:pPr algn="l" indent="0" marL="0">
              <a:spcAft>
                <a:spcPts val="600"/>
              </a:spcAft>
              <a:buNone/>
            </a:pPr>
            <a:r>
              <a:rPr lang="en-US" sz="1350" dirty="0">
                <a:solidFill>
                  <a:srgbClr val="AEB6C8"/>
                </a:solidFill>
                <a:latin typeface="Arial" pitchFamily="34" charset="0"/>
                <a:ea typeface="Arial" pitchFamily="34" charset="-122"/>
                <a:cs typeface="Arial" pitchFamily="34" charset="-120"/>
              </a:rPr>
              <a:t>Results above six threads mix in efficiency cores; a server CPU would separate the scheduler from the chip.</a:t>
            </a:r>
            <a:endParaRPr lang="en-US" sz="1350" dirty="0"/>
          </a:p>
        </p:txBody>
      </p:sp>
      <p:sp>
        <p:nvSpPr>
          <p:cNvPr id="10" name="Shape 8"/>
          <p:cNvSpPr/>
          <p:nvPr/>
        </p:nvSpPr>
        <p:spPr>
          <a:xfrm>
            <a:off x="8046720" y="1645920"/>
            <a:ext cx="3520440" cy="2240280"/>
          </a:xfrm>
          <a:prstGeom prst="roundRect">
            <a:avLst>
              <a:gd name="adj" fmla="val 4898"/>
            </a:avLst>
          </a:prstGeom>
          <a:solidFill>
            <a:srgbClr val="232A38"/>
          </a:solidFill>
          <a:ln w="12700">
            <a:solidFill>
              <a:srgbClr val="232A38"/>
            </a:solidFill>
            <a:prstDash val="solid"/>
          </a:ln>
        </p:spPr>
      </p:sp>
      <p:sp>
        <p:nvSpPr>
          <p:cNvPr id="11" name="Text 9"/>
          <p:cNvSpPr txBox="1"/>
          <p:nvPr/>
        </p:nvSpPr>
        <p:spPr>
          <a:xfrm>
            <a:off x="8321040" y="1874520"/>
            <a:ext cx="3017520" cy="45720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Emit EIP-7928 lists</a:t>
            </a:r>
            <a:endParaRPr lang="en-US" sz="1800" dirty="0"/>
          </a:p>
        </p:txBody>
      </p:sp>
      <p:sp>
        <p:nvSpPr>
          <p:cNvPr id="12" name="Text 10"/>
          <p:cNvSpPr txBox="1"/>
          <p:nvPr/>
        </p:nvSpPr>
        <p:spPr>
          <a:xfrm>
            <a:off x="8321040" y="2377440"/>
            <a:ext cx="3017520" cy="1371600"/>
          </a:xfrm>
          <a:prstGeom prst="rect">
            <a:avLst/>
          </a:prstGeom>
          <a:noFill/>
          <a:ln/>
        </p:spPr>
        <p:txBody>
          <a:bodyPr wrap="square" lIns="0" tIns="0" rIns="0" bIns="0" rtlCol="0" anchor="t"/>
          <a:lstStyle/>
          <a:p>
            <a:pPr algn="l" indent="0" marL="0">
              <a:spcAft>
                <a:spcPts val="600"/>
              </a:spcAft>
              <a:buNone/>
            </a:pPr>
            <a:r>
              <a:rPr lang="en-US" sz="1350" dirty="0">
                <a:solidFill>
                  <a:srgbClr val="AEB6C8"/>
                </a:solidFill>
                <a:latin typeface="Arial" pitchFamily="34" charset="0"/>
                <a:ea typeface="Arial" pitchFamily="34" charset="-122"/>
                <a:cs typeface="Arial" pitchFamily="34" charset="-120"/>
              </a:rPr>
              <a:t>Produce canonical block access lists, and measure the builder's side as well as the validator's.</a:t>
            </a:r>
            <a:endParaRPr lang="en-US" sz="1350" dirty="0"/>
          </a:p>
        </p:txBody>
      </p:sp>
      <p:sp>
        <p:nvSpPr>
          <p:cNvPr id="13" name="Text 11"/>
          <p:cNvSpPr txBox="1"/>
          <p:nvPr/>
        </p:nvSpPr>
        <p:spPr>
          <a:xfrm>
            <a:off x="548640" y="4480560"/>
            <a:ext cx="11094415" cy="45720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Code, data, figures and the full report: github.com/IcantFind-a-username/sc6109-parallel-evm</a:t>
            </a:r>
            <a:endParaRPr lang="en-US" sz="1500" dirty="0"/>
          </a:p>
        </p:txBody>
      </p:sp>
      <p:sp>
        <p:nvSpPr>
          <p:cNvPr id="14" name="Text 12"/>
          <p:cNvSpPr txBox="1"/>
          <p:nvPr/>
        </p:nvSpPr>
        <p:spPr>
          <a:xfrm>
            <a:off x="548640" y="5120640"/>
            <a:ext cx="5486400" cy="731520"/>
          </a:xfrm>
          <a:prstGeom prst="rect">
            <a:avLst/>
          </a:prstGeom>
          <a:noFill/>
          <a:ln/>
        </p:spPr>
        <p:txBody>
          <a:bodyPr wrap="square" lIns="0" tIns="0" rIns="0" bIns="0" rtlCol="0" anchor="ctr"/>
          <a:lstStyle/>
          <a:p>
            <a:pPr indent="0" marL="0">
              <a:buNone/>
            </a:pPr>
            <a:r>
              <a:rPr lang="en-US" sz="3200" b="1" dirty="0">
                <a:solidFill>
                  <a:srgbClr val="EB6834"/>
                </a:solidFill>
                <a:latin typeface="Arial" pitchFamily="34" charset="0"/>
                <a:ea typeface="Arial" pitchFamily="34" charset="-122"/>
                <a:cs typeface="Arial" pitchFamily="34" charset="-120"/>
              </a:rPr>
              <a:t>Thank you</a:t>
            </a:r>
            <a:endParaRPr lang="en-US" sz="3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does parallel EVM execution pay?</dc:title>
  <dc:subject>PptxGenJS Presentation</dc:subject>
  <dc:creator>PptxGenJS</dc:creator>
  <cp:lastModifiedBy>PptxGenJS</cp:lastModifiedBy>
  <cp:revision>1</cp:revision>
  <dcterms:created xsi:type="dcterms:W3CDTF">2026-09-11T19:41:24Z</dcterms:created>
  <dcterms:modified xsi:type="dcterms:W3CDTF">2026-09-11T19:41:24Z</dcterms:modified>
</cp:coreProperties>
</file>